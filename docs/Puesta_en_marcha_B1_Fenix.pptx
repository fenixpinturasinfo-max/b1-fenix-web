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f3f21030-e0a0-2b42-fab5-0b718aab46ad}">
          <p14:sldIdLst>
            <p14:sldId id="256"/>
          </p14:sldIdLst>
        </p14:section>
        <p14:section name="Contexto" id="{4aee380b-d556-0bd1-5ee6-4d130fa3b11c}">
          <p14:sldIdLst>
            <p14:sldId id="257"/>
          </p14:sldIdLst>
        </p14:section>
        <p14:section name="Antes de partir" id="{633e6fee-193a-9d6c-3b35-e13cb9663b66}">
          <p14:sldIdLst>
            <p14:sldId id="258"/>
            <p14:sldId id="259"/>
            <p14:sldId id="260"/>
            <p14:sldId id="261"/>
            <p14:sldId id="262"/>
          </p14:sldIdLst>
        </p14:section>
        <p14:section name="Operación" id="{a2a9c17b-17e0-21be-6b7c-b165037869b3}">
          <p14:sldIdLst>
            <p14:sldId id="263"/>
            <p14:sldId id="264"/>
          </p14:sldIdLst>
        </p14:section>
        <p14:section name="Plan" id="{7907055e-84fa-87a8-f990-47365ea47657}">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reunión: acordar qué prepara Fenix, qué prepara 2Call y en qué fechas, para partir con el sistema sin interrumpir la venta. El detalle completo va por correo en un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 Bernardo y Buin comparten catálogo y lista de precios, pero cada local tiene su propio stock, su caja y su numeración. Funciona en la nube, desde 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puntos 1 y 3 son los de mayor riesgo: sin stock no hay venta el primer día, y el procedimiento con el SII tiene consecuencias tributarias si se improvisa.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Recomendación: depurar el catálogo antes de cargarlo (duplicados, descontinuados, nombres distintos para el mismo artículo). Un error de precio se replica en todas las cajas y en la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conteo es ciego: quien cuenta no ve lo que dice el sistema. Si se cuenta con el local abierto, el sistema compensa las ventas posteriores al conteo, pero lo más limpio es contar sin movimiento.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Necesitamos el listado de personas con nombre, correo, perfil y local. Además: cuánto puede descontar cada perfil sin autorización (porcentaje y tope en pesos), y quién aprueba tomas de inventario.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el sistema no emite documentos tributarios electrónicos. Mientras no exista integración, la boleta electrónica se sigue emitiendo en el sistema autorizado de Fenix. Si su proveedor tiene API, podemos evaluar conectarlo.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las salidas de efectivo no se registran, el cierre mostrará descuadres que no existen. Para la tienda web, hasta tener credenciales de producción de Transbank, funciona solo en modo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Recomendamos un respaldo de internet (router o teléfono con datos móviles) y un procedimiento manual de contingencia acordado con los encargados.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fechas exactas se acuerdan con Fenix. Durante la marcha blanca 2Call da soporte cercano y se revisan a diario los cierres de caja y los movimientos de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acordando el responsable de Fenix y una fecha tentativa para la toma de inventario. Enviar el PDF por correo después de la reunión.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5577840" cy="1828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971800"/>
            <a:ext cx="5669280" cy="91440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pic>
        <p:nvPicPr>
          <p:cNvPr id="3" name="Image 0" descr="/tmp/claude-0/-home-claude/ef4383f0-4efb-547e-910d-feeec167ea62/scratchpad/logo-circle.png">    </p:cNvPr>
          <p:cNvPicPr>
            <a:picLocks noChangeAspect="1"/>
          </p:cNvPicPr>
          <p:nvPr/>
        </p:nvPicPr>
        <p:blipFill>
          <a:blip r:embed="rId1"/>
          <a:stretch>
            <a:fillRect/>
          </a:stretch>
        </p:blipFill>
        <p:spPr>
          <a:xfrm>
            <a:off x="8275320" y="274320"/>
            <a:ext cx="502920" cy="502920"/>
          </a:xfrm>
          <a:prstGeom prst="rect">
            <a:avLst/>
          </a:prstGeom>
        </p:spPr>
      </p:pic>
      <p:sp>
        <p:nvSpPr>
          <p:cNvPr id="4"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chemeClr val="tx2"/>
                </a:solidFill>
              </a:rPr>
              <a:t>B1 Fénix · Puesta en marcha · 2Call</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5577840" cy="1828800"/>
          </a:xfrm>
          <a:prstGeom prst="rect">
            <a:avLst/>
          </a:prstGeom>
          <a:noFill/>
          <a:ln/>
        </p:spPr>
        <p:txBody>
          <a:bodyPr wrap="square" lIns="0" tIns="0" rIns="0" bIns="0" rtlCol="0" anchor="b"/>
          <a:lstStyle/>
          <a:p>
            <a:pPr algn="l" indent="0" marL="0">
              <a:buNone/>
            </a:pPr>
            <a:r>
              <a:rPr lang="en-US" sz="3600" b="1" dirty="0">
                <a:solidFill>
                  <a:schemeClr val="bg1"/>
                </a:solidFill>
              </a:rPr>
              <a:t>Puesta en marcha de B1 Fénix</a:t>
            </a:r>
            <a:endParaRPr lang="en-US" sz="3600" dirty="0"/>
          </a:p>
        </p:txBody>
      </p:sp>
      <p:sp>
        <p:nvSpPr>
          <p:cNvPr id="3" name="Text 0"/>
          <p:cNvSpPr/>
          <p:nvPr>
            <p:ph idx="101" type="body" hasCustomPrompt="1"/>
          </p:nvPr>
        </p:nvSpPr>
        <p:spPr>
          <a:xfrm>
            <a:off x="548640" y="2971800"/>
            <a:ext cx="5669280" cy="914400"/>
          </a:xfrm>
          <a:prstGeom prst="rect">
            <a:avLst/>
          </a:prstGeom>
          <a:noFill/>
          <a:ln/>
        </p:spPr>
        <p:txBody>
          <a:bodyPr wrap="square" lIns="0" tIns="0" rIns="0" bIns="0" rtlCol="0" anchor="t"/>
          <a:lstStyle/>
          <a:p>
            <a:pPr algn="l" indent="0" marL="0">
              <a:buNone/>
            </a:pPr>
            <a:r>
              <a:rPr lang="en-US" sz="1600" dirty="0">
                <a:solidFill>
                  <a:schemeClr val="accent6"/>
                </a:solidFill>
              </a:rPr>
              <a:t>Qué necesitamos preparar juntos antes de operar</a:t>
            </a:r>
            <a:endParaRPr lang="en-US" sz="1600" dirty="0"/>
          </a:p>
        </p:txBody>
      </p:sp>
      <p:sp>
        <p:nvSpPr>
          <p:cNvPr id="4" name="logo-bg"/>
          <p:cNvSpPr/>
          <p:nvPr/>
        </p:nvSpPr>
        <p:spPr>
          <a:xfrm>
            <a:off x="6355080" y="1097280"/>
            <a:ext cx="2377440" cy="2377440"/>
          </a:xfrm>
          <a:prstGeom prst="ellipse">
            <a:avLst/>
          </a:prstGeom>
          <a:solidFill>
            <a:schemeClr val="bg1"/>
          </a:solidFill>
          <a:ln/>
        </p:spPr>
      </p:sp>
      <p:pic>
        <p:nvPicPr>
          <p:cNvPr id="5" name="logo" descr="/tmp/claude-0/-home-claude/ef4383f0-4efb-547e-910d-feeec167ea62/scratchpad/logo-circle.png">    </p:cNvPr>
          <p:cNvPicPr>
            <a:picLocks noChangeAspect="1"/>
          </p:cNvPicPr>
          <p:nvPr/>
        </p:nvPicPr>
        <p:blipFill>
          <a:blip r:embed="rId1"/>
          <a:stretch>
            <a:fillRect/>
          </a:stretch>
        </p:blipFill>
        <p:spPr>
          <a:xfrm>
            <a:off x="6400800" y="1143000"/>
            <a:ext cx="2286000" cy="2286000"/>
          </a:xfrm>
          <a:prstGeom prst="rect">
            <a:avLst/>
          </a:prstGeom>
        </p:spPr>
      </p:pic>
      <p:sp>
        <p:nvSpPr>
          <p:cNvPr id="6" name="Text 3"/>
          <p:cNvSpPr txBox="1"/>
          <p:nvPr/>
        </p:nvSpPr>
        <p:spPr>
          <a:xfrm>
            <a:off x="548640" y="438912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Pinturas Fenix · 2Call · Octubre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Una sola plataforma para los dos locales</a:t>
            </a:r>
            <a:endParaRPr lang="en-US" sz="2600" dirty="0"/>
          </a:p>
        </p:txBody>
      </p:sp>
      <p:sp>
        <p:nvSpPr>
          <p:cNvPr id="3" name="mod0-card"/>
          <p:cNvSpPr/>
          <p:nvPr/>
        </p:nvSpPr>
        <p:spPr>
          <a:xfrm>
            <a:off x="457200" y="1325880"/>
            <a:ext cx="1536192" cy="2926080"/>
          </a:xfrm>
          <a:prstGeom prst="roundRect">
            <a:avLst>
              <a:gd name="adj" fmla="val 4762"/>
            </a:avLst>
          </a:prstGeom>
          <a:solidFill>
            <a:schemeClr val="bg2"/>
          </a:solidFill>
          <a:ln/>
        </p:spPr>
      </p:sp>
      <p:sp>
        <p:nvSpPr>
          <p:cNvPr id="4" name="mod0-bg"/>
          <p:cNvSpPr/>
          <p:nvPr/>
        </p:nvSpPr>
        <p:spPr>
          <a:xfrm>
            <a:off x="859536" y="1600200"/>
            <a:ext cx="731520" cy="731520"/>
          </a:xfrm>
          <a:prstGeom prst="ellipse">
            <a:avLst/>
          </a:prstGeom>
          <a:solidFill>
            <a:srgbClr val="C8341B"/>
          </a:solidFill>
          <a:ln/>
        </p:spPr>
      </p:sp>
      <p:pic>
        <p:nvPicPr>
          <p:cNvPr id="5" name="mod0-icon" descr="preencoded.png">    </p:cNvPr>
          <p:cNvPicPr>
            <a:picLocks noChangeAspect="1"/>
          </p:cNvPicPr>
          <p:nvPr/>
        </p:nvPicPr>
        <p:blipFill>
          <a:blip r:embed="rId1"/>
          <a:stretch>
            <a:fillRect/>
          </a:stretch>
        </p:blipFill>
        <p:spPr>
          <a:xfrm>
            <a:off x="1049731" y="1790395"/>
            <a:ext cx="351130" cy="351130"/>
          </a:xfrm>
          <a:prstGeom prst="rect">
            <a:avLst/>
          </a:prstGeom>
        </p:spPr>
      </p:pic>
      <p:sp>
        <p:nvSpPr>
          <p:cNvPr id="6" name="mod0-t"/>
          <p:cNvSpPr txBox="1"/>
          <p:nvPr/>
        </p:nvSpPr>
        <p:spPr>
          <a:xfrm>
            <a:off x="548640" y="2514600"/>
            <a:ext cx="1353312" cy="411480"/>
          </a:xfrm>
          <a:prstGeom prst="rect">
            <a:avLst/>
          </a:prstGeom>
          <a:noFill/>
          <a:ln/>
        </p:spPr>
        <p:txBody>
          <a:bodyPr wrap="square" lIns="0" tIns="0" rIns="0" bIns="0" rtlCol="0" anchor="ctr"/>
          <a:lstStyle/>
          <a:p>
            <a:pPr algn="ctr" indent="0" marL="0">
              <a:buNone/>
            </a:pPr>
            <a:r>
              <a:rPr lang="en-US" sz="1500" b="1" dirty="0">
                <a:solidFill>
                  <a:schemeClr val="tx1"/>
                </a:solidFill>
              </a:rPr>
              <a:t>Caja (POS)</a:t>
            </a:r>
            <a:endParaRPr lang="en-US" sz="1500" dirty="0"/>
          </a:p>
        </p:txBody>
      </p:sp>
      <p:sp>
        <p:nvSpPr>
          <p:cNvPr id="7" name="mod0-d"/>
          <p:cNvSpPr txBox="1"/>
          <p:nvPr/>
        </p:nvSpPr>
        <p:spPr>
          <a:xfrm>
            <a:off x="594360" y="2926080"/>
            <a:ext cx="1261872" cy="1097280"/>
          </a:xfrm>
          <a:prstGeom prst="rect">
            <a:avLst/>
          </a:prstGeom>
          <a:noFill/>
          <a:ln/>
        </p:spPr>
        <p:txBody>
          <a:bodyPr wrap="square" lIns="0" tIns="0" rIns="0" bIns="0" rtlCol="0" anchor="t"/>
          <a:lstStyle/>
          <a:p>
            <a:pPr algn="ctr" indent="0" marL="0">
              <a:buNone/>
            </a:pPr>
            <a:r>
              <a:rPr lang="en-US" sz="1200" dirty="0">
                <a:solidFill>
                  <a:schemeClr val="tx2"/>
                </a:solidFill>
              </a:rPr>
              <a:t>Venta en mesón, arqueo y descuentos autorizados</a:t>
            </a:r>
            <a:endParaRPr lang="en-US" sz="1200" dirty="0"/>
          </a:p>
        </p:txBody>
      </p:sp>
      <p:sp>
        <p:nvSpPr>
          <p:cNvPr id="8" name="mod1-card"/>
          <p:cNvSpPr/>
          <p:nvPr/>
        </p:nvSpPr>
        <p:spPr>
          <a:xfrm>
            <a:off x="2084832" y="1325880"/>
            <a:ext cx="1536192" cy="2926080"/>
          </a:xfrm>
          <a:prstGeom prst="roundRect">
            <a:avLst>
              <a:gd name="adj" fmla="val 4762"/>
            </a:avLst>
          </a:prstGeom>
          <a:solidFill>
            <a:schemeClr val="bg2"/>
          </a:solidFill>
          <a:ln/>
        </p:spPr>
      </p:sp>
      <p:sp>
        <p:nvSpPr>
          <p:cNvPr id="9" name="mod1-bg"/>
          <p:cNvSpPr/>
          <p:nvPr/>
        </p:nvSpPr>
        <p:spPr>
          <a:xfrm>
            <a:off x="2487168" y="1600200"/>
            <a:ext cx="731520" cy="731520"/>
          </a:xfrm>
          <a:prstGeom prst="ellipse">
            <a:avLst/>
          </a:prstGeom>
          <a:solidFill>
            <a:srgbClr val="C8341B"/>
          </a:solidFill>
          <a:ln/>
        </p:spPr>
      </p:sp>
      <p:pic>
        <p:nvPicPr>
          <p:cNvPr id="10" name="mod1-icon" descr="preencoded.png">    </p:cNvPr>
          <p:cNvPicPr>
            <a:picLocks noChangeAspect="1"/>
          </p:cNvPicPr>
          <p:nvPr/>
        </p:nvPicPr>
        <p:blipFill>
          <a:blip r:embed="rId2"/>
          <a:stretch>
            <a:fillRect/>
          </a:stretch>
        </p:blipFill>
        <p:spPr>
          <a:xfrm>
            <a:off x="2677363" y="1790395"/>
            <a:ext cx="351130" cy="351130"/>
          </a:xfrm>
          <a:prstGeom prst="rect">
            <a:avLst/>
          </a:prstGeom>
        </p:spPr>
      </p:pic>
      <p:sp>
        <p:nvSpPr>
          <p:cNvPr id="11" name="mod1-t"/>
          <p:cNvSpPr txBox="1"/>
          <p:nvPr/>
        </p:nvSpPr>
        <p:spPr>
          <a:xfrm>
            <a:off x="2176272" y="2514600"/>
            <a:ext cx="1353312" cy="411480"/>
          </a:xfrm>
          <a:prstGeom prst="rect">
            <a:avLst/>
          </a:prstGeom>
          <a:noFill/>
          <a:ln/>
        </p:spPr>
        <p:txBody>
          <a:bodyPr wrap="square" lIns="0" tIns="0" rIns="0" bIns="0" rtlCol="0" anchor="ctr"/>
          <a:lstStyle/>
          <a:p>
            <a:pPr algn="ctr" indent="0" marL="0">
              <a:buNone/>
            </a:pPr>
            <a:r>
              <a:rPr lang="en-US" sz="1500" b="1" dirty="0">
                <a:solidFill>
                  <a:schemeClr val="tx1"/>
                </a:solidFill>
              </a:rPr>
              <a:t>Inventario</a:t>
            </a:r>
            <a:endParaRPr lang="en-US" sz="1500" dirty="0"/>
          </a:p>
        </p:txBody>
      </p:sp>
      <p:sp>
        <p:nvSpPr>
          <p:cNvPr id="12" name="mod1-d"/>
          <p:cNvSpPr txBox="1"/>
          <p:nvPr/>
        </p:nvSpPr>
        <p:spPr>
          <a:xfrm>
            <a:off x="2221992" y="2926080"/>
            <a:ext cx="1261872" cy="1097280"/>
          </a:xfrm>
          <a:prstGeom prst="rect">
            <a:avLst/>
          </a:prstGeom>
          <a:noFill/>
          <a:ln/>
        </p:spPr>
        <p:txBody>
          <a:bodyPr wrap="square" lIns="0" tIns="0" rIns="0" bIns="0" rtlCol="0" anchor="t"/>
          <a:lstStyle/>
          <a:p>
            <a:pPr algn="ctr" indent="0" marL="0">
              <a:buNone/>
            </a:pPr>
            <a:r>
              <a:rPr lang="en-US" sz="1200" dirty="0">
                <a:solidFill>
                  <a:schemeClr val="tx2"/>
                </a:solidFill>
              </a:rPr>
              <a:t>Stock por local, movimientos y tomas de inventario</a:t>
            </a:r>
            <a:endParaRPr lang="en-US" sz="1200" dirty="0"/>
          </a:p>
        </p:txBody>
      </p:sp>
      <p:sp>
        <p:nvSpPr>
          <p:cNvPr id="13" name="mod2-card"/>
          <p:cNvSpPr/>
          <p:nvPr/>
        </p:nvSpPr>
        <p:spPr>
          <a:xfrm>
            <a:off x="3712464" y="1325880"/>
            <a:ext cx="1536192" cy="2926080"/>
          </a:xfrm>
          <a:prstGeom prst="roundRect">
            <a:avLst>
              <a:gd name="adj" fmla="val 4762"/>
            </a:avLst>
          </a:prstGeom>
          <a:solidFill>
            <a:schemeClr val="bg2"/>
          </a:solidFill>
          <a:ln/>
        </p:spPr>
      </p:sp>
      <p:sp>
        <p:nvSpPr>
          <p:cNvPr id="14" name="mod2-bg"/>
          <p:cNvSpPr/>
          <p:nvPr/>
        </p:nvSpPr>
        <p:spPr>
          <a:xfrm>
            <a:off x="4114800" y="1600200"/>
            <a:ext cx="731520" cy="731520"/>
          </a:xfrm>
          <a:prstGeom prst="ellipse">
            <a:avLst/>
          </a:prstGeom>
          <a:solidFill>
            <a:srgbClr val="C8341B"/>
          </a:solidFill>
          <a:ln/>
        </p:spPr>
      </p:sp>
      <p:pic>
        <p:nvPicPr>
          <p:cNvPr id="15" name="mod2-icon" descr="preencoded.png">    </p:cNvPr>
          <p:cNvPicPr>
            <a:picLocks noChangeAspect="1"/>
          </p:cNvPicPr>
          <p:nvPr/>
        </p:nvPicPr>
        <p:blipFill>
          <a:blip r:embed="rId3"/>
          <a:stretch>
            <a:fillRect/>
          </a:stretch>
        </p:blipFill>
        <p:spPr>
          <a:xfrm>
            <a:off x="4304995" y="1790395"/>
            <a:ext cx="351130" cy="351130"/>
          </a:xfrm>
          <a:prstGeom prst="rect">
            <a:avLst/>
          </a:prstGeom>
        </p:spPr>
      </p:pic>
      <p:sp>
        <p:nvSpPr>
          <p:cNvPr id="16" name="mod2-t"/>
          <p:cNvSpPr txBox="1"/>
          <p:nvPr/>
        </p:nvSpPr>
        <p:spPr>
          <a:xfrm>
            <a:off x="3803904" y="2514600"/>
            <a:ext cx="1353312" cy="411480"/>
          </a:xfrm>
          <a:prstGeom prst="rect">
            <a:avLst/>
          </a:prstGeom>
          <a:noFill/>
          <a:ln/>
        </p:spPr>
        <p:txBody>
          <a:bodyPr wrap="square" lIns="0" tIns="0" rIns="0" bIns="0" rtlCol="0" anchor="ctr"/>
          <a:lstStyle/>
          <a:p>
            <a:pPr algn="ctr" indent="0" marL="0">
              <a:buNone/>
            </a:pPr>
            <a:r>
              <a:rPr lang="en-US" sz="1500" b="1" dirty="0">
                <a:solidFill>
                  <a:schemeClr val="tx1"/>
                </a:solidFill>
              </a:rPr>
              <a:t>Compras</a:t>
            </a:r>
            <a:endParaRPr lang="en-US" sz="1500" dirty="0"/>
          </a:p>
        </p:txBody>
      </p:sp>
      <p:sp>
        <p:nvSpPr>
          <p:cNvPr id="17" name="mod2-d"/>
          <p:cNvSpPr txBox="1"/>
          <p:nvPr/>
        </p:nvSpPr>
        <p:spPr>
          <a:xfrm>
            <a:off x="3849624" y="2926080"/>
            <a:ext cx="1261872" cy="1097280"/>
          </a:xfrm>
          <a:prstGeom prst="rect">
            <a:avLst/>
          </a:prstGeom>
          <a:noFill/>
          <a:ln/>
        </p:spPr>
        <p:txBody>
          <a:bodyPr wrap="square" lIns="0" tIns="0" rIns="0" bIns="0" rtlCol="0" anchor="t"/>
          <a:lstStyle/>
          <a:p>
            <a:pPr algn="ctr" indent="0" marL="0">
              <a:buNone/>
            </a:pPr>
            <a:r>
              <a:rPr lang="en-US" sz="1200" dirty="0">
                <a:solidFill>
                  <a:schemeClr val="tx2"/>
                </a:solidFill>
              </a:rPr>
              <a:t>Solicitudes, órdenes, recepción y facturas</a:t>
            </a:r>
            <a:endParaRPr lang="en-US" sz="1200" dirty="0"/>
          </a:p>
        </p:txBody>
      </p:sp>
      <p:sp>
        <p:nvSpPr>
          <p:cNvPr id="18" name="mod3-card"/>
          <p:cNvSpPr/>
          <p:nvPr/>
        </p:nvSpPr>
        <p:spPr>
          <a:xfrm>
            <a:off x="5340096" y="1325880"/>
            <a:ext cx="1536192" cy="2926080"/>
          </a:xfrm>
          <a:prstGeom prst="roundRect">
            <a:avLst>
              <a:gd name="adj" fmla="val 4762"/>
            </a:avLst>
          </a:prstGeom>
          <a:solidFill>
            <a:schemeClr val="bg2"/>
          </a:solidFill>
          <a:ln/>
        </p:spPr>
      </p:sp>
      <p:sp>
        <p:nvSpPr>
          <p:cNvPr id="19" name="mod3-bg"/>
          <p:cNvSpPr/>
          <p:nvPr/>
        </p:nvSpPr>
        <p:spPr>
          <a:xfrm>
            <a:off x="5742432" y="1600200"/>
            <a:ext cx="731520" cy="731520"/>
          </a:xfrm>
          <a:prstGeom prst="ellipse">
            <a:avLst/>
          </a:prstGeom>
          <a:solidFill>
            <a:srgbClr val="C8341B"/>
          </a:solidFill>
          <a:ln/>
        </p:spPr>
      </p:sp>
      <p:pic>
        <p:nvPicPr>
          <p:cNvPr id="20" name="mod3-icon" descr="preencoded.png">    </p:cNvPr>
          <p:cNvPicPr>
            <a:picLocks noChangeAspect="1"/>
          </p:cNvPicPr>
          <p:nvPr/>
        </p:nvPicPr>
        <p:blipFill>
          <a:blip r:embed="rId4"/>
          <a:stretch>
            <a:fillRect/>
          </a:stretch>
        </p:blipFill>
        <p:spPr>
          <a:xfrm>
            <a:off x="5932627" y="1790395"/>
            <a:ext cx="351130" cy="351130"/>
          </a:xfrm>
          <a:prstGeom prst="rect">
            <a:avLst/>
          </a:prstGeom>
        </p:spPr>
      </p:pic>
      <p:sp>
        <p:nvSpPr>
          <p:cNvPr id="21" name="mod3-t"/>
          <p:cNvSpPr txBox="1"/>
          <p:nvPr/>
        </p:nvSpPr>
        <p:spPr>
          <a:xfrm>
            <a:off x="5431536" y="2514600"/>
            <a:ext cx="1353312" cy="411480"/>
          </a:xfrm>
          <a:prstGeom prst="rect">
            <a:avLst/>
          </a:prstGeom>
          <a:noFill/>
          <a:ln/>
        </p:spPr>
        <p:txBody>
          <a:bodyPr wrap="square" lIns="0" tIns="0" rIns="0" bIns="0" rtlCol="0" anchor="ctr"/>
          <a:lstStyle/>
          <a:p>
            <a:pPr algn="ctr" indent="0" marL="0">
              <a:buNone/>
            </a:pPr>
            <a:r>
              <a:rPr lang="en-US" sz="1500" b="1" dirty="0">
                <a:solidFill>
                  <a:schemeClr val="tx1"/>
                </a:solidFill>
              </a:rPr>
              <a:t>Clientes</a:t>
            </a:r>
            <a:endParaRPr lang="en-US" sz="1500" dirty="0"/>
          </a:p>
        </p:txBody>
      </p:sp>
      <p:sp>
        <p:nvSpPr>
          <p:cNvPr id="22" name="mod3-d"/>
          <p:cNvSpPr txBox="1"/>
          <p:nvPr/>
        </p:nvSpPr>
        <p:spPr>
          <a:xfrm>
            <a:off x="5477256" y="2926080"/>
            <a:ext cx="1261872" cy="1097280"/>
          </a:xfrm>
          <a:prstGeom prst="rect">
            <a:avLst/>
          </a:prstGeom>
          <a:noFill/>
          <a:ln/>
        </p:spPr>
        <p:txBody>
          <a:bodyPr wrap="square" lIns="0" tIns="0" rIns="0" bIns="0" rtlCol="0" anchor="t"/>
          <a:lstStyle/>
          <a:p>
            <a:pPr algn="ctr" indent="0" marL="0">
              <a:buNone/>
            </a:pPr>
            <a:r>
              <a:rPr lang="en-US" sz="1200" dirty="0">
                <a:solidFill>
                  <a:schemeClr val="tx2"/>
                </a:solidFill>
              </a:rPr>
              <a:t>Facturas, descuentos pactados y cuenta abierta</a:t>
            </a:r>
            <a:endParaRPr lang="en-US" sz="1200" dirty="0"/>
          </a:p>
        </p:txBody>
      </p:sp>
      <p:sp>
        <p:nvSpPr>
          <p:cNvPr id="23" name="mod4-card"/>
          <p:cNvSpPr/>
          <p:nvPr/>
        </p:nvSpPr>
        <p:spPr>
          <a:xfrm>
            <a:off x="6967728" y="1325880"/>
            <a:ext cx="1536192" cy="2926080"/>
          </a:xfrm>
          <a:prstGeom prst="roundRect">
            <a:avLst>
              <a:gd name="adj" fmla="val 4762"/>
            </a:avLst>
          </a:prstGeom>
          <a:solidFill>
            <a:schemeClr val="bg2"/>
          </a:solidFill>
          <a:ln/>
        </p:spPr>
      </p:sp>
      <p:sp>
        <p:nvSpPr>
          <p:cNvPr id="24" name="mod4-bg"/>
          <p:cNvSpPr/>
          <p:nvPr/>
        </p:nvSpPr>
        <p:spPr>
          <a:xfrm>
            <a:off x="7370064" y="1600200"/>
            <a:ext cx="731520" cy="731520"/>
          </a:xfrm>
          <a:prstGeom prst="ellipse">
            <a:avLst/>
          </a:prstGeom>
          <a:solidFill>
            <a:srgbClr val="C8341B"/>
          </a:solidFill>
          <a:ln/>
        </p:spPr>
      </p:sp>
      <p:pic>
        <p:nvPicPr>
          <p:cNvPr id="25" name="mod4-icon" descr="preencoded.png">    </p:cNvPr>
          <p:cNvPicPr>
            <a:picLocks noChangeAspect="1"/>
          </p:cNvPicPr>
          <p:nvPr/>
        </p:nvPicPr>
        <p:blipFill>
          <a:blip r:embed="rId5"/>
          <a:stretch>
            <a:fillRect/>
          </a:stretch>
        </p:blipFill>
        <p:spPr>
          <a:xfrm>
            <a:off x="7560259" y="1790395"/>
            <a:ext cx="351130" cy="351130"/>
          </a:xfrm>
          <a:prstGeom prst="rect">
            <a:avLst/>
          </a:prstGeom>
        </p:spPr>
      </p:pic>
      <p:sp>
        <p:nvSpPr>
          <p:cNvPr id="26" name="mod4-t"/>
          <p:cNvSpPr txBox="1"/>
          <p:nvPr/>
        </p:nvSpPr>
        <p:spPr>
          <a:xfrm>
            <a:off x="7059168" y="2514600"/>
            <a:ext cx="1353312" cy="411480"/>
          </a:xfrm>
          <a:prstGeom prst="rect">
            <a:avLst/>
          </a:prstGeom>
          <a:noFill/>
          <a:ln/>
        </p:spPr>
        <p:txBody>
          <a:bodyPr wrap="square" lIns="0" tIns="0" rIns="0" bIns="0" rtlCol="0" anchor="ctr"/>
          <a:lstStyle/>
          <a:p>
            <a:pPr algn="ctr" indent="0" marL="0">
              <a:buNone/>
            </a:pPr>
            <a:r>
              <a:rPr lang="en-US" sz="1500" b="1" dirty="0">
                <a:solidFill>
                  <a:schemeClr val="tx1"/>
                </a:solidFill>
              </a:rPr>
              <a:t>Tienda web</a:t>
            </a:r>
            <a:endParaRPr lang="en-US" sz="1500" dirty="0"/>
          </a:p>
        </p:txBody>
      </p:sp>
      <p:sp>
        <p:nvSpPr>
          <p:cNvPr id="27" name="mod4-d"/>
          <p:cNvSpPr txBox="1"/>
          <p:nvPr/>
        </p:nvSpPr>
        <p:spPr>
          <a:xfrm>
            <a:off x="7104888" y="2926080"/>
            <a:ext cx="1261872" cy="1097280"/>
          </a:xfrm>
          <a:prstGeom prst="rect">
            <a:avLst/>
          </a:prstGeom>
          <a:noFill/>
          <a:ln/>
        </p:spPr>
        <p:txBody>
          <a:bodyPr wrap="square" lIns="0" tIns="0" rIns="0" bIns="0" rtlCol="0" anchor="t"/>
          <a:lstStyle/>
          <a:p>
            <a:pPr algn="ctr" indent="0" marL="0">
              <a:buNone/>
            </a:pPr>
            <a:r>
              <a:rPr lang="en-US" sz="1200" dirty="0">
                <a:solidFill>
                  <a:schemeClr val="tx2"/>
                </a:solidFill>
              </a:rPr>
              <a:t>Catálogo en línea con pago Webpay</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Cinco puntos que no pueden esperar</a:t>
            </a:r>
            <a:endParaRPr lang="en-US" sz="2600" dirty="0"/>
          </a:p>
        </p:txBody>
      </p:sp>
      <p:sp>
        <p:nvSpPr>
          <p:cNvPr id="3" name="c0-n"/>
          <p:cNvSpPr/>
          <p:nvPr/>
        </p:nvSpPr>
        <p:spPr>
          <a:xfrm>
            <a:off x="457200" y="1225296"/>
            <a:ext cx="475488" cy="475488"/>
          </a:xfrm>
          <a:prstGeom prst="ellipse">
            <a:avLst/>
          </a:prstGeom>
          <a:solidFill>
            <a:schemeClr val="accent1"/>
          </a:solidFill>
          <a:ln/>
        </p:spPr>
      </p:sp>
      <p:sp>
        <p:nvSpPr>
          <p:cNvPr id="4" name="c0-num"/>
          <p:cNvSpPr txBox="1"/>
          <p:nvPr/>
        </p:nvSpPr>
        <p:spPr>
          <a:xfrm>
            <a:off x="457200" y="122529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c0-t"/>
          <p:cNvSpPr txBox="1"/>
          <p:nvPr/>
        </p:nvSpPr>
        <p:spPr>
          <a:xfrm>
            <a:off x="1143000" y="1188720"/>
            <a:ext cx="3291840" cy="548640"/>
          </a:xfrm>
          <a:prstGeom prst="rect">
            <a:avLst/>
          </a:prstGeom>
          <a:noFill/>
          <a:ln/>
        </p:spPr>
        <p:txBody>
          <a:bodyPr wrap="square" lIns="0" tIns="0" rIns="0" bIns="0" rtlCol="0" anchor="ctr"/>
          <a:lstStyle/>
          <a:p>
            <a:pPr indent="0" marL="0">
              <a:buNone/>
            </a:pPr>
            <a:r>
              <a:rPr lang="en-US" sz="1600" b="1" dirty="0">
                <a:solidFill>
                  <a:schemeClr val="tx1"/>
                </a:solidFill>
              </a:rPr>
              <a:t>Stock inicial contado</a:t>
            </a:r>
            <a:endParaRPr lang="en-US" sz="1600" dirty="0"/>
          </a:p>
        </p:txBody>
      </p:sp>
      <p:sp>
        <p:nvSpPr>
          <p:cNvPr id="6" name="c0-d"/>
          <p:cNvSpPr txBox="1"/>
          <p:nvPr/>
        </p:nvSpPr>
        <p:spPr>
          <a:xfrm>
            <a:off x="4480560" y="1188720"/>
            <a:ext cx="4206240" cy="548640"/>
          </a:xfrm>
          <a:prstGeom prst="rect">
            <a:avLst/>
          </a:prstGeom>
          <a:noFill/>
          <a:ln/>
        </p:spPr>
        <p:txBody>
          <a:bodyPr wrap="square" lIns="0" tIns="0" rIns="0" bIns="0" rtlCol="0" anchor="ctr"/>
          <a:lstStyle/>
          <a:p>
            <a:pPr indent="0" marL="0">
              <a:buNone/>
            </a:pPr>
            <a:r>
              <a:rPr lang="en-US" sz="1400" dirty="0">
                <a:solidFill>
                  <a:schemeClr val="tx2"/>
                </a:solidFill>
              </a:rPr>
              <a:t>Sin stock cargado, la caja no deja vender</a:t>
            </a:r>
            <a:endParaRPr lang="en-US" sz="1400" dirty="0"/>
          </a:p>
        </p:txBody>
      </p:sp>
      <p:sp>
        <p:nvSpPr>
          <p:cNvPr id="7" name="c1-n"/>
          <p:cNvSpPr/>
          <p:nvPr/>
        </p:nvSpPr>
        <p:spPr>
          <a:xfrm>
            <a:off x="457200" y="1911096"/>
            <a:ext cx="475488" cy="475488"/>
          </a:xfrm>
          <a:prstGeom prst="ellipse">
            <a:avLst/>
          </a:prstGeom>
          <a:solidFill>
            <a:schemeClr val="tx1"/>
          </a:solidFill>
          <a:ln/>
        </p:spPr>
      </p:sp>
      <p:sp>
        <p:nvSpPr>
          <p:cNvPr id="8" name="c1-num"/>
          <p:cNvSpPr txBox="1"/>
          <p:nvPr/>
        </p:nvSpPr>
        <p:spPr>
          <a:xfrm>
            <a:off x="457200" y="191109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c1-t"/>
          <p:cNvSpPr txBox="1"/>
          <p:nvPr/>
        </p:nvSpPr>
        <p:spPr>
          <a:xfrm>
            <a:off x="1143000" y="1874520"/>
            <a:ext cx="3291840" cy="548640"/>
          </a:xfrm>
          <a:prstGeom prst="rect">
            <a:avLst/>
          </a:prstGeom>
          <a:noFill/>
          <a:ln/>
        </p:spPr>
        <p:txBody>
          <a:bodyPr wrap="square" lIns="0" tIns="0" rIns="0" bIns="0" rtlCol="0" anchor="ctr"/>
          <a:lstStyle/>
          <a:p>
            <a:pPr indent="0" marL="0">
              <a:buNone/>
            </a:pPr>
            <a:r>
              <a:rPr lang="en-US" sz="1600" b="1" dirty="0">
                <a:solidFill>
                  <a:schemeClr val="tx1"/>
                </a:solidFill>
              </a:rPr>
              <a:t>Catálogo completo y limpio</a:t>
            </a:r>
            <a:endParaRPr lang="en-US" sz="1600" dirty="0"/>
          </a:p>
        </p:txBody>
      </p:sp>
      <p:sp>
        <p:nvSpPr>
          <p:cNvPr id="10" name="c1-d"/>
          <p:cNvSpPr txBox="1"/>
          <p:nvPr/>
        </p:nvSpPr>
        <p:spPr>
          <a:xfrm>
            <a:off x="4480560" y="1874520"/>
            <a:ext cx="4206240" cy="548640"/>
          </a:xfrm>
          <a:prstGeom prst="rect">
            <a:avLst/>
          </a:prstGeom>
          <a:noFill/>
          <a:ln/>
        </p:spPr>
        <p:txBody>
          <a:bodyPr wrap="square" lIns="0" tIns="0" rIns="0" bIns="0" rtlCol="0" anchor="ctr"/>
          <a:lstStyle/>
          <a:p>
            <a:pPr indent="0" marL="0">
              <a:buNone/>
            </a:pPr>
            <a:r>
              <a:rPr lang="en-US" sz="1400" dirty="0">
                <a:solidFill>
                  <a:schemeClr val="tx2"/>
                </a:solidFill>
              </a:rPr>
              <a:t>Nombre, marca, categoría, precio y código de barras</a:t>
            </a:r>
            <a:endParaRPr lang="en-US" sz="1400" dirty="0"/>
          </a:p>
        </p:txBody>
      </p:sp>
      <p:sp>
        <p:nvSpPr>
          <p:cNvPr id="11" name="c2-n"/>
          <p:cNvSpPr/>
          <p:nvPr/>
        </p:nvSpPr>
        <p:spPr>
          <a:xfrm>
            <a:off x="457200" y="2596896"/>
            <a:ext cx="475488" cy="475488"/>
          </a:xfrm>
          <a:prstGeom prst="ellipse">
            <a:avLst/>
          </a:prstGeom>
          <a:solidFill>
            <a:schemeClr val="accent1"/>
          </a:solidFill>
          <a:ln/>
        </p:spPr>
      </p:sp>
      <p:sp>
        <p:nvSpPr>
          <p:cNvPr id="12" name="c2-num"/>
          <p:cNvSpPr txBox="1"/>
          <p:nvPr/>
        </p:nvSpPr>
        <p:spPr>
          <a:xfrm>
            <a:off x="457200" y="259689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2-t"/>
          <p:cNvSpPr txBox="1"/>
          <p:nvPr/>
        </p:nvSpPr>
        <p:spPr>
          <a:xfrm>
            <a:off x="1143000" y="2560320"/>
            <a:ext cx="3291840" cy="548640"/>
          </a:xfrm>
          <a:prstGeom prst="rect">
            <a:avLst/>
          </a:prstGeom>
          <a:noFill/>
          <a:ln/>
        </p:spPr>
        <p:txBody>
          <a:bodyPr wrap="square" lIns="0" tIns="0" rIns="0" bIns="0" rtlCol="0" anchor="ctr"/>
          <a:lstStyle/>
          <a:p>
            <a:pPr indent="0" marL="0">
              <a:buNone/>
            </a:pPr>
            <a:r>
              <a:rPr lang="en-US" sz="1600" b="1" dirty="0">
                <a:solidFill>
                  <a:schemeClr val="tx1"/>
                </a:solidFill>
              </a:rPr>
              <a:t>Boletas y facturas ante el SII</a:t>
            </a:r>
            <a:endParaRPr lang="en-US" sz="1600" dirty="0"/>
          </a:p>
        </p:txBody>
      </p:sp>
      <p:sp>
        <p:nvSpPr>
          <p:cNvPr id="14" name="c2-d"/>
          <p:cNvSpPr txBox="1"/>
          <p:nvPr/>
        </p:nvSpPr>
        <p:spPr>
          <a:xfrm>
            <a:off x="4480560" y="2560320"/>
            <a:ext cx="4206240" cy="548640"/>
          </a:xfrm>
          <a:prstGeom prst="rect">
            <a:avLst/>
          </a:prstGeom>
          <a:noFill/>
          <a:ln/>
        </p:spPr>
        <p:txBody>
          <a:bodyPr wrap="square" lIns="0" tIns="0" rIns="0" bIns="0" rtlCol="0" anchor="ctr"/>
          <a:lstStyle/>
          <a:p>
            <a:pPr indent="0" marL="0">
              <a:buNone/>
            </a:pPr>
            <a:r>
              <a:rPr lang="en-US" sz="1400" dirty="0">
                <a:solidFill>
                  <a:schemeClr val="tx2"/>
                </a:solidFill>
              </a:rPr>
              <a:t>Acordar cómo convive con su facturador actual</a:t>
            </a:r>
            <a:endParaRPr lang="en-US" sz="1400" dirty="0"/>
          </a:p>
        </p:txBody>
      </p:sp>
      <p:sp>
        <p:nvSpPr>
          <p:cNvPr id="15" name="c3-n"/>
          <p:cNvSpPr/>
          <p:nvPr/>
        </p:nvSpPr>
        <p:spPr>
          <a:xfrm>
            <a:off x="457200" y="3282696"/>
            <a:ext cx="475488" cy="475488"/>
          </a:xfrm>
          <a:prstGeom prst="ellipse">
            <a:avLst/>
          </a:prstGeom>
          <a:solidFill>
            <a:schemeClr val="tx1"/>
          </a:solidFill>
          <a:ln/>
        </p:spPr>
      </p:sp>
      <p:sp>
        <p:nvSpPr>
          <p:cNvPr id="16" name="c3-num"/>
          <p:cNvSpPr txBox="1"/>
          <p:nvPr/>
        </p:nvSpPr>
        <p:spPr>
          <a:xfrm>
            <a:off x="457200" y="328269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c3-t"/>
          <p:cNvSpPr txBox="1"/>
          <p:nvPr/>
        </p:nvSpPr>
        <p:spPr>
          <a:xfrm>
            <a:off x="1143000" y="3246120"/>
            <a:ext cx="3291840" cy="548640"/>
          </a:xfrm>
          <a:prstGeom prst="rect">
            <a:avLst/>
          </a:prstGeom>
          <a:noFill/>
          <a:ln/>
        </p:spPr>
        <p:txBody>
          <a:bodyPr wrap="square" lIns="0" tIns="0" rIns="0" bIns="0" rtlCol="0" anchor="ctr"/>
          <a:lstStyle/>
          <a:p>
            <a:pPr indent="0" marL="0">
              <a:buNone/>
            </a:pPr>
            <a:r>
              <a:rPr lang="en-US" sz="1600" b="1" dirty="0">
                <a:solidFill>
                  <a:schemeClr val="tx1"/>
                </a:solidFill>
              </a:rPr>
              <a:t>Un usuario por persona</a:t>
            </a:r>
            <a:endParaRPr lang="en-US" sz="1600" dirty="0"/>
          </a:p>
        </p:txBody>
      </p:sp>
      <p:sp>
        <p:nvSpPr>
          <p:cNvPr id="18" name="c3-d"/>
          <p:cNvSpPr txBox="1"/>
          <p:nvPr/>
        </p:nvSpPr>
        <p:spPr>
          <a:xfrm>
            <a:off x="4480560" y="3246120"/>
            <a:ext cx="4206240" cy="548640"/>
          </a:xfrm>
          <a:prstGeom prst="rect">
            <a:avLst/>
          </a:prstGeom>
          <a:noFill/>
          <a:ln/>
        </p:spPr>
        <p:txBody>
          <a:bodyPr wrap="square" lIns="0" tIns="0" rIns="0" bIns="0" rtlCol="0" anchor="ctr"/>
          <a:lstStyle/>
          <a:p>
            <a:pPr indent="0" marL="0">
              <a:buNone/>
            </a:pPr>
            <a:r>
              <a:rPr lang="en-US" sz="1400" dirty="0">
                <a:solidFill>
                  <a:schemeClr val="tx2"/>
                </a:solidFill>
              </a:rPr>
              <a:t>Cada venta y descuento queda a nombre de quien lo hizo</a:t>
            </a:r>
            <a:endParaRPr lang="en-US" sz="1400" dirty="0"/>
          </a:p>
        </p:txBody>
      </p:sp>
      <p:sp>
        <p:nvSpPr>
          <p:cNvPr id="19" name="c4-n"/>
          <p:cNvSpPr/>
          <p:nvPr/>
        </p:nvSpPr>
        <p:spPr>
          <a:xfrm>
            <a:off x="457200" y="3968496"/>
            <a:ext cx="475488" cy="475488"/>
          </a:xfrm>
          <a:prstGeom prst="ellipse">
            <a:avLst/>
          </a:prstGeom>
          <a:solidFill>
            <a:schemeClr val="tx1"/>
          </a:solidFill>
          <a:ln/>
        </p:spPr>
      </p:sp>
      <p:sp>
        <p:nvSpPr>
          <p:cNvPr id="20" name="c4-num"/>
          <p:cNvSpPr txBox="1"/>
          <p:nvPr/>
        </p:nvSpPr>
        <p:spPr>
          <a:xfrm>
            <a:off x="457200" y="396849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c4-t"/>
          <p:cNvSpPr txBox="1"/>
          <p:nvPr/>
        </p:nvSpPr>
        <p:spPr>
          <a:xfrm>
            <a:off x="1143000" y="3931920"/>
            <a:ext cx="3291840" cy="548640"/>
          </a:xfrm>
          <a:prstGeom prst="rect">
            <a:avLst/>
          </a:prstGeom>
          <a:noFill/>
          <a:ln/>
        </p:spPr>
        <p:txBody>
          <a:bodyPr wrap="square" lIns="0" tIns="0" rIns="0" bIns="0" rtlCol="0" anchor="ctr"/>
          <a:lstStyle/>
          <a:p>
            <a:pPr indent="0" marL="0">
              <a:buNone/>
            </a:pPr>
            <a:r>
              <a:rPr lang="en-US" sz="1600" b="1" dirty="0">
                <a:solidFill>
                  <a:schemeClr val="tx1"/>
                </a:solidFill>
              </a:rPr>
              <a:t>Un responsable en Fenix</a:t>
            </a:r>
            <a:endParaRPr lang="en-US" sz="1600" dirty="0"/>
          </a:p>
        </p:txBody>
      </p:sp>
      <p:sp>
        <p:nvSpPr>
          <p:cNvPr id="22" name="c4-d"/>
          <p:cNvSpPr txBox="1"/>
          <p:nvPr/>
        </p:nvSpPr>
        <p:spPr>
          <a:xfrm>
            <a:off x="4480560" y="3931920"/>
            <a:ext cx="4206240" cy="548640"/>
          </a:xfrm>
          <a:prstGeom prst="rect">
            <a:avLst/>
          </a:prstGeom>
          <a:noFill/>
          <a:ln/>
        </p:spPr>
        <p:txBody>
          <a:bodyPr wrap="square" lIns="0" tIns="0" rIns="0" bIns="0" rtlCol="0" anchor="ctr"/>
          <a:lstStyle/>
          <a:p>
            <a:pPr indent="0" marL="0">
              <a:buNone/>
            </a:pPr>
            <a:r>
              <a:rPr lang="en-US" sz="1400" dirty="0">
                <a:solidFill>
                  <a:schemeClr val="tx2"/>
                </a:solidFill>
              </a:rPr>
              <a:t>Decide la configuración y es el contacto con 2Call</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La información que debe preparar Fenix</a:t>
            </a:r>
            <a:endParaRPr lang="en-US" sz="2600" dirty="0"/>
          </a:p>
        </p:txBody>
      </p:sp>
      <p:sp>
        <p:nvSpPr>
          <p:cNvPr id="3" name="d0-card"/>
          <p:cNvSpPr/>
          <p:nvPr/>
        </p:nvSpPr>
        <p:spPr>
          <a:xfrm>
            <a:off x="457200" y="1188720"/>
            <a:ext cx="4069080" cy="1554480"/>
          </a:xfrm>
          <a:prstGeom prst="roundRect">
            <a:avLst>
              <a:gd name="adj" fmla="val 4706"/>
            </a:avLst>
          </a:prstGeom>
          <a:solidFill>
            <a:schemeClr val="bg2"/>
          </a:solidFill>
          <a:ln/>
        </p:spPr>
      </p:sp>
      <p:sp>
        <p:nvSpPr>
          <p:cNvPr id="4" name="d0-bg"/>
          <p:cNvSpPr/>
          <p:nvPr/>
        </p:nvSpPr>
        <p:spPr>
          <a:xfrm>
            <a:off x="685800" y="1417320"/>
            <a:ext cx="548640" cy="548640"/>
          </a:xfrm>
          <a:prstGeom prst="ellipse">
            <a:avLst/>
          </a:prstGeom>
          <a:solidFill>
            <a:srgbClr val="C8341B"/>
          </a:solidFill>
          <a:ln/>
        </p:spPr>
      </p:sp>
      <p:pic>
        <p:nvPicPr>
          <p:cNvPr id="5" name="d0-icon" descr="preencoded.png">    </p:cNvPr>
          <p:cNvPicPr>
            <a:picLocks noChangeAspect="1"/>
          </p:cNvPicPr>
          <p:nvPr/>
        </p:nvPicPr>
        <p:blipFill>
          <a:blip r:embed="rId1"/>
          <a:stretch>
            <a:fillRect/>
          </a:stretch>
        </p:blipFill>
        <p:spPr>
          <a:xfrm>
            <a:off x="828446" y="1559966"/>
            <a:ext cx="263347" cy="263347"/>
          </a:xfrm>
          <a:prstGeom prst="rect">
            <a:avLst/>
          </a:prstGeom>
        </p:spPr>
      </p:pic>
      <p:sp>
        <p:nvSpPr>
          <p:cNvPr id="6" name="d0-t"/>
          <p:cNvSpPr txBox="1"/>
          <p:nvPr/>
        </p:nvSpPr>
        <p:spPr>
          <a:xfrm>
            <a:off x="1417320" y="141732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Locales</a:t>
            </a:r>
            <a:endParaRPr lang="en-US" sz="1600" dirty="0"/>
          </a:p>
        </p:txBody>
      </p:sp>
      <p:sp>
        <p:nvSpPr>
          <p:cNvPr id="7" name="d0-b"/>
          <p:cNvSpPr txBox="1"/>
          <p:nvPr/>
        </p:nvSpPr>
        <p:spPr>
          <a:xfrm>
            <a:off x="1417320" y="1965960"/>
            <a:ext cx="2971800" cy="73152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2"/>
                </a:solidFill>
              </a:rPr>
              <a:t>Cuál es la casa matriz</a:t>
            </a:r>
            <a:endParaRPr lang="en-US" sz="1200" dirty="0"/>
          </a:p>
          <a:p>
            <a:pPr marL="177800" indent="-177800">
              <a:spcAft>
                <a:spcPts val="200"/>
              </a:spcAft>
              <a:buSzPct val="100000"/>
              <a:buChar char="•"/>
            </a:pPr>
            <a:r>
              <a:rPr lang="en-US" sz="1200" dirty="0">
                <a:solidFill>
                  <a:schemeClr val="tx2"/>
                </a:solidFill>
              </a:rPr>
              <a:t>Códigos, direcciones y horarios</a:t>
            </a:r>
            <a:endParaRPr lang="en-US" sz="1200" dirty="0"/>
          </a:p>
        </p:txBody>
      </p:sp>
      <p:sp>
        <p:nvSpPr>
          <p:cNvPr id="8" name="d1-card"/>
          <p:cNvSpPr/>
          <p:nvPr/>
        </p:nvSpPr>
        <p:spPr>
          <a:xfrm>
            <a:off x="4617720" y="1188720"/>
            <a:ext cx="4069080" cy="1554480"/>
          </a:xfrm>
          <a:prstGeom prst="roundRect">
            <a:avLst>
              <a:gd name="adj" fmla="val 4706"/>
            </a:avLst>
          </a:prstGeom>
          <a:solidFill>
            <a:schemeClr val="bg2"/>
          </a:solidFill>
          <a:ln/>
        </p:spPr>
      </p:sp>
      <p:sp>
        <p:nvSpPr>
          <p:cNvPr id="9" name="d1-bg"/>
          <p:cNvSpPr/>
          <p:nvPr/>
        </p:nvSpPr>
        <p:spPr>
          <a:xfrm>
            <a:off x="4846320" y="1417320"/>
            <a:ext cx="548640" cy="548640"/>
          </a:xfrm>
          <a:prstGeom prst="ellipse">
            <a:avLst/>
          </a:prstGeom>
          <a:solidFill>
            <a:srgbClr val="C8341B"/>
          </a:solidFill>
          <a:ln/>
        </p:spPr>
      </p:sp>
      <p:pic>
        <p:nvPicPr>
          <p:cNvPr id="10" name="d1-icon" descr="preencoded.png">    </p:cNvPr>
          <p:cNvPicPr>
            <a:picLocks noChangeAspect="1"/>
          </p:cNvPicPr>
          <p:nvPr/>
        </p:nvPicPr>
        <p:blipFill>
          <a:blip r:embed="rId2"/>
          <a:stretch>
            <a:fillRect/>
          </a:stretch>
        </p:blipFill>
        <p:spPr>
          <a:xfrm>
            <a:off x="4988966" y="1559966"/>
            <a:ext cx="263347" cy="263347"/>
          </a:xfrm>
          <a:prstGeom prst="rect">
            <a:avLst/>
          </a:prstGeom>
        </p:spPr>
      </p:pic>
      <p:sp>
        <p:nvSpPr>
          <p:cNvPr id="11" name="d1-t"/>
          <p:cNvSpPr txBox="1"/>
          <p:nvPr/>
        </p:nvSpPr>
        <p:spPr>
          <a:xfrm>
            <a:off x="5577840" y="141732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Catálogo y precios</a:t>
            </a:r>
            <a:endParaRPr lang="en-US" sz="1600" dirty="0"/>
          </a:p>
        </p:txBody>
      </p:sp>
      <p:sp>
        <p:nvSpPr>
          <p:cNvPr id="12" name="d1-b"/>
          <p:cNvSpPr txBox="1"/>
          <p:nvPr/>
        </p:nvSpPr>
        <p:spPr>
          <a:xfrm>
            <a:off x="5577840" y="1965960"/>
            <a:ext cx="2971800" cy="73152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2"/>
                </a:solidFill>
              </a:rPr>
              <a:t>Planilla Excel de carga masiva</a:t>
            </a:r>
            <a:endParaRPr lang="en-US" sz="1200" dirty="0"/>
          </a:p>
          <a:p>
            <a:pPr marL="177800" indent="-177800">
              <a:spcAft>
                <a:spcPts val="200"/>
              </a:spcAft>
              <a:buSzPct val="100000"/>
              <a:buChar char="•"/>
            </a:pPr>
            <a:r>
              <a:rPr lang="en-US" sz="1200" dirty="0">
                <a:solidFill>
                  <a:schemeClr val="tx2"/>
                </a:solidFill>
              </a:rPr>
              <a:t>Lista de precios única, IVA incluido</a:t>
            </a:r>
            <a:endParaRPr lang="en-US" sz="1200" dirty="0"/>
          </a:p>
          <a:p>
            <a:pPr marL="177800" indent="-177800">
              <a:spcAft>
                <a:spcPts val="200"/>
              </a:spcAft>
              <a:buSzPct val="100000"/>
              <a:buChar char="•"/>
            </a:pPr>
            <a:r>
              <a:rPr lang="en-US" sz="1200" dirty="0">
                <a:solidFill>
                  <a:schemeClr val="tx2"/>
                </a:solidFill>
              </a:rPr>
              <a:t>Costo y código de barras</a:t>
            </a:r>
            <a:endParaRPr lang="en-US" sz="1200" dirty="0"/>
          </a:p>
        </p:txBody>
      </p:sp>
      <p:sp>
        <p:nvSpPr>
          <p:cNvPr id="13" name="d2-card"/>
          <p:cNvSpPr/>
          <p:nvPr/>
        </p:nvSpPr>
        <p:spPr>
          <a:xfrm>
            <a:off x="457200" y="2880360"/>
            <a:ext cx="4069080" cy="1554480"/>
          </a:xfrm>
          <a:prstGeom prst="roundRect">
            <a:avLst>
              <a:gd name="adj" fmla="val 4706"/>
            </a:avLst>
          </a:prstGeom>
          <a:solidFill>
            <a:schemeClr val="bg2"/>
          </a:solidFill>
          <a:ln/>
        </p:spPr>
      </p:sp>
      <p:sp>
        <p:nvSpPr>
          <p:cNvPr id="14" name="d2-bg"/>
          <p:cNvSpPr/>
          <p:nvPr/>
        </p:nvSpPr>
        <p:spPr>
          <a:xfrm>
            <a:off x="685800" y="3108960"/>
            <a:ext cx="548640" cy="548640"/>
          </a:xfrm>
          <a:prstGeom prst="ellipse">
            <a:avLst/>
          </a:prstGeom>
          <a:solidFill>
            <a:srgbClr val="C8341B"/>
          </a:solidFill>
          <a:ln/>
        </p:spPr>
      </p:sp>
      <p:pic>
        <p:nvPicPr>
          <p:cNvPr id="15" name="d2-icon" descr="preencoded.png">    </p:cNvPr>
          <p:cNvPicPr>
            <a:picLocks noChangeAspect="1"/>
          </p:cNvPicPr>
          <p:nvPr/>
        </p:nvPicPr>
        <p:blipFill>
          <a:blip r:embed="rId3"/>
          <a:stretch>
            <a:fillRect/>
          </a:stretch>
        </p:blipFill>
        <p:spPr>
          <a:xfrm>
            <a:off x="828446" y="3251606"/>
            <a:ext cx="263347" cy="263347"/>
          </a:xfrm>
          <a:prstGeom prst="rect">
            <a:avLst/>
          </a:prstGeom>
        </p:spPr>
      </p:pic>
      <p:sp>
        <p:nvSpPr>
          <p:cNvPr id="16" name="d2-t"/>
          <p:cNvSpPr txBox="1"/>
          <p:nvPr/>
        </p:nvSpPr>
        <p:spPr>
          <a:xfrm>
            <a:off x="1417320" y="310896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Clientes y proveedores</a:t>
            </a:r>
            <a:endParaRPr lang="en-US" sz="1600" dirty="0"/>
          </a:p>
        </p:txBody>
      </p:sp>
      <p:sp>
        <p:nvSpPr>
          <p:cNvPr id="17" name="d2-b"/>
          <p:cNvSpPr txBox="1"/>
          <p:nvPr/>
        </p:nvSpPr>
        <p:spPr>
          <a:xfrm>
            <a:off x="1417320" y="3657600"/>
            <a:ext cx="2971800" cy="73152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2"/>
                </a:solidFill>
              </a:rPr>
              <a:t>RUT, razón social, giro, correo</a:t>
            </a:r>
            <a:endParaRPr lang="en-US" sz="1200" dirty="0"/>
          </a:p>
          <a:p>
            <a:pPr marL="177800" indent="-177800">
              <a:spcAft>
                <a:spcPts val="200"/>
              </a:spcAft>
              <a:buSzPct val="100000"/>
              <a:buChar char="•"/>
            </a:pPr>
            <a:r>
              <a:rPr lang="en-US" sz="1200" dirty="0">
                <a:solidFill>
                  <a:schemeClr val="tx2"/>
                </a:solidFill>
              </a:rPr>
              <a:t>Descuentos pactados y cuenta abierta</a:t>
            </a:r>
            <a:endParaRPr lang="en-US" sz="1200" dirty="0"/>
          </a:p>
          <a:p>
            <a:pPr marL="177800" indent="-177800">
              <a:spcAft>
                <a:spcPts val="200"/>
              </a:spcAft>
              <a:buSzPct val="100000"/>
              <a:buChar char="•"/>
            </a:pPr>
            <a:r>
              <a:rPr lang="en-US" sz="1200" dirty="0">
                <a:solidFill>
                  <a:schemeClr val="tx2"/>
                </a:solidFill>
              </a:rPr>
              <a:t>Condición de pago de proveedores</a:t>
            </a:r>
            <a:endParaRPr lang="en-US" sz="1200" dirty="0"/>
          </a:p>
        </p:txBody>
      </p:sp>
      <p:sp>
        <p:nvSpPr>
          <p:cNvPr id="18" name="d3-card"/>
          <p:cNvSpPr/>
          <p:nvPr/>
        </p:nvSpPr>
        <p:spPr>
          <a:xfrm>
            <a:off x="4617720" y="2880360"/>
            <a:ext cx="4069080" cy="1554480"/>
          </a:xfrm>
          <a:prstGeom prst="roundRect">
            <a:avLst>
              <a:gd name="adj" fmla="val 4706"/>
            </a:avLst>
          </a:prstGeom>
          <a:solidFill>
            <a:schemeClr val="bg2"/>
          </a:solidFill>
          <a:ln/>
        </p:spPr>
      </p:sp>
      <p:sp>
        <p:nvSpPr>
          <p:cNvPr id="19" name="d3-bg"/>
          <p:cNvSpPr/>
          <p:nvPr/>
        </p:nvSpPr>
        <p:spPr>
          <a:xfrm>
            <a:off x="4846320" y="3108960"/>
            <a:ext cx="548640" cy="548640"/>
          </a:xfrm>
          <a:prstGeom prst="ellipse">
            <a:avLst/>
          </a:prstGeom>
          <a:solidFill>
            <a:srgbClr val="C8341B"/>
          </a:solidFill>
          <a:ln/>
        </p:spPr>
      </p:sp>
      <p:pic>
        <p:nvPicPr>
          <p:cNvPr id="20" name="d3-icon" descr="preencoded.png">    </p:cNvPr>
          <p:cNvPicPr>
            <a:picLocks noChangeAspect="1"/>
          </p:cNvPicPr>
          <p:nvPr/>
        </p:nvPicPr>
        <p:blipFill>
          <a:blip r:embed="rId4"/>
          <a:stretch>
            <a:fillRect/>
          </a:stretch>
        </p:blipFill>
        <p:spPr>
          <a:xfrm>
            <a:off x="4988966" y="3251606"/>
            <a:ext cx="263347" cy="263347"/>
          </a:xfrm>
          <a:prstGeom prst="rect">
            <a:avLst/>
          </a:prstGeom>
        </p:spPr>
      </p:pic>
      <p:sp>
        <p:nvSpPr>
          <p:cNvPr id="21" name="d3-t"/>
          <p:cNvSpPr txBox="1"/>
          <p:nvPr/>
        </p:nvSpPr>
        <p:spPr>
          <a:xfrm>
            <a:off x="5577840" y="310896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Usuarios</a:t>
            </a:r>
            <a:endParaRPr lang="en-US" sz="1600" dirty="0"/>
          </a:p>
        </p:txBody>
      </p:sp>
      <p:sp>
        <p:nvSpPr>
          <p:cNvPr id="22" name="d3-b"/>
          <p:cNvSpPr txBox="1"/>
          <p:nvPr/>
        </p:nvSpPr>
        <p:spPr>
          <a:xfrm>
            <a:off x="5577840" y="3657600"/>
            <a:ext cx="2971800" cy="73152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2"/>
                </a:solidFill>
              </a:rPr>
              <a:t>Nombre, correo, perfil y local</a:t>
            </a:r>
            <a:endParaRPr lang="en-US" sz="1200" dirty="0"/>
          </a:p>
          <a:p>
            <a:pPr marL="177800" indent="-177800">
              <a:spcAft>
                <a:spcPts val="200"/>
              </a:spcAft>
              <a:buSzPct val="100000"/>
              <a:buChar char="•"/>
            </a:pPr>
            <a:r>
              <a:rPr lang="en-US" sz="1200" dirty="0">
                <a:solidFill>
                  <a:schemeClr val="tx2"/>
                </a:solidFill>
              </a:rPr>
              <a:t>Topes de descuento por perfil</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El inventario inicial es el paso más crítico</a:t>
            </a:r>
            <a:endParaRPr lang="en-US" sz="2600" dirty="0"/>
          </a:p>
        </p:txBody>
      </p:sp>
      <p:sp>
        <p:nvSpPr>
          <p:cNvPr id="3" name="inv-callout"/>
          <p:cNvSpPr/>
          <p:nvPr/>
        </p:nvSpPr>
        <p:spPr>
          <a:xfrm>
            <a:off x="457200" y="1188720"/>
            <a:ext cx="3017520" cy="3108960"/>
          </a:xfrm>
          <a:prstGeom prst="roundRect">
            <a:avLst>
              <a:gd name="adj" fmla="val 2424"/>
            </a:avLst>
          </a:prstGeom>
          <a:solidFill>
            <a:schemeClr val="accent1"/>
          </a:solidFill>
          <a:ln/>
        </p:spPr>
      </p:sp>
      <p:sp>
        <p:nvSpPr>
          <p:cNvPr id="4" name="inv-zero"/>
          <p:cNvSpPr txBox="1"/>
          <p:nvPr/>
        </p:nvSpPr>
        <p:spPr>
          <a:xfrm>
            <a:off x="685800" y="1325880"/>
            <a:ext cx="2560320" cy="1188720"/>
          </a:xfrm>
          <a:prstGeom prst="rect">
            <a:avLst/>
          </a:prstGeom>
          <a:noFill/>
          <a:ln/>
        </p:spPr>
        <p:txBody>
          <a:bodyPr wrap="square" lIns="0" tIns="0" rIns="0" bIns="0" rtlCol="0" anchor="ctr"/>
          <a:lstStyle/>
          <a:p>
            <a:pPr indent="0" marL="0">
              <a:buNone/>
            </a:pPr>
            <a:r>
              <a:rPr lang="en-US" sz="7200" b="1" dirty="0">
                <a:solidFill>
                  <a:schemeClr val="bg1"/>
                </a:solidFill>
              </a:rPr>
              <a:t>0</a:t>
            </a:r>
            <a:endParaRPr lang="en-US" sz="7200" dirty="0"/>
          </a:p>
        </p:txBody>
      </p:sp>
      <p:sp>
        <p:nvSpPr>
          <p:cNvPr id="5" name="inv-txt"/>
          <p:cNvSpPr txBox="1"/>
          <p:nvPr/>
        </p:nvSpPr>
        <p:spPr>
          <a:xfrm>
            <a:off x="685800" y="2560320"/>
            <a:ext cx="2606040" cy="1463040"/>
          </a:xfrm>
          <a:prstGeom prst="rect">
            <a:avLst/>
          </a:prstGeom>
          <a:noFill/>
          <a:ln/>
        </p:spPr>
        <p:txBody>
          <a:bodyPr wrap="square" lIns="0" tIns="0" rIns="0" bIns="0" rtlCol="0" anchor="t"/>
          <a:lstStyle/>
          <a:p>
            <a:pPr indent="0" marL="0">
              <a:buNone/>
            </a:pPr>
            <a:r>
              <a:rPr lang="en-US" sz="1400" dirty="0">
                <a:solidFill>
                  <a:schemeClr val="bg1"/>
                </a:solidFill>
              </a:rPr>
              <a:t>unidades en sistema = la caja no deja registrar la venta, aunque el producto esté en el mesón</a:t>
            </a:r>
            <a:endParaRPr lang="en-US" sz="1400" dirty="0"/>
          </a:p>
        </p:txBody>
      </p:sp>
      <p:sp>
        <p:nvSpPr>
          <p:cNvPr id="6" name="st0-n"/>
          <p:cNvSpPr/>
          <p:nvPr/>
        </p:nvSpPr>
        <p:spPr>
          <a:xfrm>
            <a:off x="3840480" y="1261872"/>
            <a:ext cx="457200" cy="457200"/>
          </a:xfrm>
          <a:prstGeom prst="ellipse">
            <a:avLst/>
          </a:prstGeom>
          <a:solidFill>
            <a:schemeClr val="tx1"/>
          </a:solidFill>
          <a:ln/>
        </p:spPr>
      </p:sp>
      <p:sp>
        <p:nvSpPr>
          <p:cNvPr id="7" name="st0-num"/>
          <p:cNvSpPr txBox="1"/>
          <p:nvPr/>
        </p:nvSpPr>
        <p:spPr>
          <a:xfrm>
            <a:off x="3840480" y="12618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0-t"/>
          <p:cNvSpPr txBox="1"/>
          <p:nvPr/>
        </p:nvSpPr>
        <p:spPr>
          <a:xfrm>
            <a:off x="4526280" y="1188720"/>
            <a:ext cx="4114800" cy="640080"/>
          </a:xfrm>
          <a:prstGeom prst="rect">
            <a:avLst/>
          </a:prstGeom>
          <a:noFill/>
          <a:ln/>
        </p:spPr>
        <p:txBody>
          <a:bodyPr wrap="square" lIns="0" tIns="0" rIns="0" bIns="0" rtlCol="0" anchor="ctr"/>
          <a:lstStyle/>
          <a:p>
            <a:pPr indent="0" marL="0">
              <a:buNone/>
            </a:pPr>
            <a:r>
              <a:rPr lang="en-US" sz="1600" b="1" dirty="0">
                <a:solidFill>
                  <a:schemeClr val="tx1"/>
                </a:solidFill>
              </a:rPr>
              <a:t>Fecha de corte</a:t>
            </a:r>
            <a:endParaRPr lang="en-US" sz="1600" dirty="0"/>
          </a:p>
          <a:p>
            <a:pPr indent="0" marL="0">
              <a:buNone/>
            </a:pPr>
            <a:r>
              <a:rPr lang="en-US" sz="1300" dirty="0">
                <a:solidFill>
                  <a:schemeClr val="tx2"/>
                </a:solidFill>
              </a:rPr>
              <a:t>Idealmente con el local cerrado</a:t>
            </a:r>
            <a:endParaRPr lang="en-US" sz="1600" dirty="0"/>
          </a:p>
        </p:txBody>
      </p:sp>
      <p:sp>
        <p:nvSpPr>
          <p:cNvPr id="9" name="st1-n"/>
          <p:cNvSpPr/>
          <p:nvPr/>
        </p:nvSpPr>
        <p:spPr>
          <a:xfrm>
            <a:off x="3840480" y="2048256"/>
            <a:ext cx="457200" cy="457200"/>
          </a:xfrm>
          <a:prstGeom prst="ellipse">
            <a:avLst/>
          </a:prstGeom>
          <a:solidFill>
            <a:schemeClr val="tx1"/>
          </a:solidFill>
          <a:ln/>
        </p:spPr>
      </p:sp>
      <p:sp>
        <p:nvSpPr>
          <p:cNvPr id="10" name="st1-num"/>
          <p:cNvSpPr txBox="1"/>
          <p:nvPr/>
        </p:nvSpPr>
        <p:spPr>
          <a:xfrm>
            <a:off x="3840480" y="204825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t1-t"/>
          <p:cNvSpPr txBox="1"/>
          <p:nvPr/>
        </p:nvSpPr>
        <p:spPr>
          <a:xfrm>
            <a:off x="4526280" y="1975104"/>
            <a:ext cx="4114800" cy="640080"/>
          </a:xfrm>
          <a:prstGeom prst="rect">
            <a:avLst/>
          </a:prstGeom>
          <a:noFill/>
          <a:ln/>
        </p:spPr>
        <p:txBody>
          <a:bodyPr wrap="square" lIns="0" tIns="0" rIns="0" bIns="0" rtlCol="0" anchor="ctr"/>
          <a:lstStyle/>
          <a:p>
            <a:pPr indent="0" marL="0">
              <a:buNone/>
            </a:pPr>
            <a:r>
              <a:rPr lang="en-US" sz="1600" b="1" dirty="0">
                <a:solidFill>
                  <a:schemeClr val="tx1"/>
                </a:solidFill>
              </a:rPr>
              <a:t>Conteo ciego por local</a:t>
            </a:r>
            <a:endParaRPr lang="en-US" sz="1600" dirty="0"/>
          </a:p>
          <a:p>
            <a:pPr indent="0" marL="0">
              <a:buNone/>
            </a:pPr>
            <a:r>
              <a:rPr lang="en-US" sz="1300" dirty="0">
                <a:solidFill>
                  <a:schemeClr val="tx2"/>
                </a:solidFill>
              </a:rPr>
              <a:t>Desde el celular, por pasillo, con lector</a:t>
            </a:r>
            <a:endParaRPr lang="en-US" sz="1600" dirty="0"/>
          </a:p>
        </p:txBody>
      </p:sp>
      <p:sp>
        <p:nvSpPr>
          <p:cNvPr id="12" name="st2-n"/>
          <p:cNvSpPr/>
          <p:nvPr/>
        </p:nvSpPr>
        <p:spPr>
          <a:xfrm>
            <a:off x="3840480" y="2834640"/>
            <a:ext cx="457200" cy="457200"/>
          </a:xfrm>
          <a:prstGeom prst="ellipse">
            <a:avLst/>
          </a:prstGeom>
          <a:solidFill>
            <a:schemeClr val="tx1"/>
          </a:solidFill>
          <a:ln/>
        </p:spPr>
      </p:sp>
      <p:sp>
        <p:nvSpPr>
          <p:cNvPr id="13" name="st2-num"/>
          <p:cNvSpPr txBox="1"/>
          <p:nvPr/>
        </p:nvSpPr>
        <p:spPr>
          <a:xfrm>
            <a:off x="3840480" y="2834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st2-t"/>
          <p:cNvSpPr txBox="1"/>
          <p:nvPr/>
        </p:nvSpPr>
        <p:spPr>
          <a:xfrm>
            <a:off x="4526280" y="2761488"/>
            <a:ext cx="4114800" cy="640080"/>
          </a:xfrm>
          <a:prstGeom prst="rect">
            <a:avLst/>
          </a:prstGeom>
          <a:noFill/>
          <a:ln/>
        </p:spPr>
        <p:txBody>
          <a:bodyPr wrap="square" lIns="0" tIns="0" rIns="0" bIns="0" rtlCol="0" anchor="ctr"/>
          <a:lstStyle/>
          <a:p>
            <a:pPr indent="0" marL="0">
              <a:buNone/>
            </a:pPr>
            <a:r>
              <a:rPr lang="en-US" sz="1600" b="1" dirty="0">
                <a:solidFill>
                  <a:schemeClr val="tx1"/>
                </a:solidFill>
              </a:rPr>
              <a:t>Revisión y aprobación</a:t>
            </a:r>
            <a:endParaRPr lang="en-US" sz="1600" dirty="0"/>
          </a:p>
          <a:p>
            <a:pPr indent="0" marL="0">
              <a:buNone/>
            </a:pPr>
            <a:r>
              <a:rPr lang="en-US" sz="1300" dirty="0">
                <a:solidFill>
                  <a:schemeClr val="tx2"/>
                </a:solidFill>
              </a:rPr>
              <a:t>Encargado o gerencia valida diferencias</a:t>
            </a:r>
            <a:endParaRPr lang="en-US" sz="1600" dirty="0"/>
          </a:p>
        </p:txBody>
      </p:sp>
      <p:sp>
        <p:nvSpPr>
          <p:cNvPr id="15" name="st3-n"/>
          <p:cNvSpPr/>
          <p:nvPr/>
        </p:nvSpPr>
        <p:spPr>
          <a:xfrm>
            <a:off x="3840480" y="3621024"/>
            <a:ext cx="457200" cy="457200"/>
          </a:xfrm>
          <a:prstGeom prst="ellipse">
            <a:avLst/>
          </a:prstGeom>
          <a:solidFill>
            <a:schemeClr val="tx1"/>
          </a:solidFill>
          <a:ln/>
        </p:spPr>
      </p:sp>
      <p:sp>
        <p:nvSpPr>
          <p:cNvPr id="16" name="st3-num"/>
          <p:cNvSpPr txBox="1"/>
          <p:nvPr/>
        </p:nvSpPr>
        <p:spPr>
          <a:xfrm>
            <a:off x="3840480" y="36210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st3-t"/>
          <p:cNvSpPr txBox="1"/>
          <p:nvPr/>
        </p:nvSpPr>
        <p:spPr>
          <a:xfrm>
            <a:off x="4526280" y="3547872"/>
            <a:ext cx="4114800" cy="640080"/>
          </a:xfrm>
          <a:prstGeom prst="rect">
            <a:avLst/>
          </a:prstGeom>
          <a:noFill/>
          <a:ln/>
        </p:spPr>
        <p:txBody>
          <a:bodyPr wrap="square" lIns="0" tIns="0" rIns="0" bIns="0" rtlCol="0" anchor="ctr"/>
          <a:lstStyle/>
          <a:p>
            <a:pPr indent="0" marL="0">
              <a:buNone/>
            </a:pPr>
            <a:r>
              <a:rPr lang="en-US" sz="1600" b="1" dirty="0">
                <a:solidFill>
                  <a:schemeClr val="tx1"/>
                </a:solidFill>
              </a:rPr>
              <a:t>Mínimos y ubicaciones</a:t>
            </a:r>
            <a:endParaRPr lang="en-US" sz="1600" dirty="0"/>
          </a:p>
          <a:p>
            <a:pPr indent="0" marL="0">
              <a:buNone/>
            </a:pPr>
            <a:r>
              <a:rPr lang="en-US" sz="1300" dirty="0">
                <a:solidFill>
                  <a:schemeClr val="tx2"/>
                </a:solidFill>
              </a:rPr>
              <a:t>Activan las alertas de reposición</a:t>
            </a:r>
            <a:endParaRPr lang="en-US" sz="16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Cinco perfiles, un usuario por persona</a:t>
            </a:r>
            <a:endParaRPr lang="en-US" sz="2600" dirty="0"/>
          </a:p>
        </p:txBody>
      </p:sp>
      <p:graphicFrame>
        <p:nvGraphicFramePr>
          <p:cNvPr id="7" name="perfile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2651760"/>
                <a:gridCol w="3657600"/>
              </a:tblGrid>
              <a:tr h="438912">
                <a:tc>
                  <a:txBody>
                    <a:bodyPr/>
                    <a:lstStyle/>
                    <a:p>
                      <a:pPr indent="0" marL="0">
                        <a:buNone/>
                      </a:pPr>
                      <a:r>
                        <a:rPr lang="en-US" sz="1300" b="1" dirty="0">
                          <a:solidFill>
                            <a:schemeClr val="bg1"/>
                          </a:solidFill>
                        </a:rPr>
                        <a:t>Perfil</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Alcance</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Uso típico</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tx1"/>
                          </a:solidFill>
                        </a:rPr>
                        <a:t>Administrador</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Todos los locales y configuración</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Crea usuarios, locales y ajusta permisos</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Gerente</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Todos los locales</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Reportes consolidados, precios, autoriza descuentos</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Encargado de local</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Su local</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Inventario, compras y ventas; aprueba tomas</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Vendedor</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Su local</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Caja, pedidos y arqueo de su turno</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Bodega</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Su local</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Recepción de compras y conteos</a:t>
                      </a:r>
                      <a:endParaRPr lang="en-US" sz="1300" dirty="0"/>
                    </a:p>
                  </a:txBody>
                  <a:tcPr marL="91440" marR="91440" marT="0" marB="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4023360"/>
            <a:ext cx="8229600" cy="320040"/>
          </a:xfrm>
          <a:prstGeom prst="rect">
            <a:avLst/>
          </a:prstGeom>
          <a:noFill/>
          <a:ln/>
        </p:spPr>
        <p:txBody>
          <a:bodyPr wrap="square" lIns="0" tIns="0" rIns="0" bIns="0" rtlCol="0" anchor="ctr"/>
          <a:lstStyle/>
          <a:p>
            <a:pPr indent="0" marL="0">
              <a:buNone/>
            </a:pPr>
            <a:r>
              <a:rPr lang="en-US" sz="1200" i="1" dirty="0">
                <a:solidFill>
                  <a:schemeClr val="accent1"/>
                </a:solidFill>
              </a:rPr>
              <a:t>Permisos ajustables por sección en Configuración › Perfiles · Nunca compartir claves</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Boletas y facturas ante el SII</a:t>
            </a:r>
            <a:endParaRPr lang="en-US" sz="2600" dirty="0"/>
          </a:p>
        </p:txBody>
      </p:sp>
      <p:sp>
        <p:nvSpPr>
          <p:cNvPr id="3" name="sii0-card"/>
          <p:cNvSpPr/>
          <p:nvPr/>
        </p:nvSpPr>
        <p:spPr>
          <a:xfrm>
            <a:off x="457200" y="1188720"/>
            <a:ext cx="4023360" cy="2606040"/>
          </a:xfrm>
          <a:prstGeom prst="roundRect">
            <a:avLst>
              <a:gd name="adj" fmla="val 2807"/>
            </a:avLst>
          </a:prstGeom>
          <a:solidFill>
            <a:schemeClr val="bg2"/>
          </a:solidFill>
          <a:ln/>
        </p:spPr>
      </p:sp>
      <p:sp>
        <p:nvSpPr>
          <p:cNvPr id="4" name="sii0-bg"/>
          <p:cNvSpPr/>
          <p:nvPr/>
        </p:nvSpPr>
        <p:spPr>
          <a:xfrm>
            <a:off x="731520" y="1417320"/>
            <a:ext cx="548640" cy="548640"/>
          </a:xfrm>
          <a:prstGeom prst="ellipse">
            <a:avLst/>
          </a:prstGeom>
          <a:solidFill>
            <a:srgbClr val="1F2328"/>
          </a:solidFill>
          <a:ln/>
        </p:spPr>
      </p:sp>
      <p:pic>
        <p:nvPicPr>
          <p:cNvPr id="5" name="sii0-icon" descr="preencoded.png">    </p:cNvPr>
          <p:cNvPicPr>
            <a:picLocks noChangeAspect="1"/>
          </p:cNvPicPr>
          <p:nvPr/>
        </p:nvPicPr>
        <p:blipFill>
          <a:blip r:embed="rId1"/>
          <a:stretch>
            <a:fillRect/>
          </a:stretch>
        </p:blipFill>
        <p:spPr>
          <a:xfrm>
            <a:off x="874166" y="1559966"/>
            <a:ext cx="263347" cy="263347"/>
          </a:xfrm>
          <a:prstGeom prst="rect">
            <a:avLst/>
          </a:prstGeom>
        </p:spPr>
      </p:pic>
      <p:sp>
        <p:nvSpPr>
          <p:cNvPr id="6" name="sii0-t"/>
          <p:cNvSpPr txBox="1"/>
          <p:nvPr/>
        </p:nvSpPr>
        <p:spPr>
          <a:xfrm>
            <a:off x="1463040" y="1417320"/>
            <a:ext cx="2834640" cy="548640"/>
          </a:xfrm>
          <a:prstGeom prst="rect">
            <a:avLst/>
          </a:prstGeom>
          <a:noFill/>
          <a:ln/>
        </p:spPr>
        <p:txBody>
          <a:bodyPr wrap="square" lIns="0" tIns="0" rIns="0" bIns="0" rtlCol="0" anchor="ctr"/>
          <a:lstStyle/>
          <a:p>
            <a:pPr indent="0" marL="0">
              <a:buNone/>
            </a:pPr>
            <a:r>
              <a:rPr lang="en-US" sz="1700" b="1" dirty="0">
                <a:solidFill>
                  <a:schemeClr val="tx1"/>
                </a:solidFill>
              </a:rPr>
              <a:t>Lo que hace B1 Fénix</a:t>
            </a:r>
            <a:endParaRPr lang="en-US" sz="1700" dirty="0"/>
          </a:p>
        </p:txBody>
      </p:sp>
      <p:sp>
        <p:nvSpPr>
          <p:cNvPr id="7" name="sii0-b"/>
          <p:cNvSpPr txBox="1"/>
          <p:nvPr/>
        </p:nvSpPr>
        <p:spPr>
          <a:xfrm>
            <a:off x="731520" y="2194560"/>
            <a:ext cx="347472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Registra la venta y descuenta stock</a:t>
            </a:r>
            <a:endParaRPr lang="en-US" sz="1400" dirty="0"/>
          </a:p>
          <a:p>
            <a:pPr marL="177800" indent="-177800">
              <a:spcAft>
                <a:spcPts val="600"/>
              </a:spcAft>
              <a:buSzPct val="100000"/>
              <a:buChar char="•"/>
            </a:pPr>
            <a:r>
              <a:rPr lang="en-US" sz="1400" dirty="0">
                <a:solidFill>
                  <a:schemeClr val="tx1"/>
                </a:solidFill>
              </a:rPr>
              <a:t>Boleta con correlativo interno por local</a:t>
            </a:r>
            <a:endParaRPr lang="en-US" sz="1400" dirty="0"/>
          </a:p>
          <a:p>
            <a:pPr marL="177800" indent="-177800">
              <a:spcAft>
                <a:spcPts val="600"/>
              </a:spcAft>
              <a:buSzPct val="100000"/>
              <a:buChar char="•"/>
            </a:pPr>
            <a:r>
              <a:rPr lang="en-US" sz="1400" dirty="0">
                <a:solidFill>
                  <a:schemeClr val="tx1"/>
                </a:solidFill>
              </a:rPr>
              <a:t>Factura con el folio SII ya emitido</a:t>
            </a:r>
            <a:endParaRPr lang="en-US" sz="1400" dirty="0"/>
          </a:p>
        </p:txBody>
      </p:sp>
      <p:sp>
        <p:nvSpPr>
          <p:cNvPr id="8" name="sii1-card"/>
          <p:cNvSpPr/>
          <p:nvPr/>
        </p:nvSpPr>
        <p:spPr>
          <a:xfrm>
            <a:off x="4663440" y="1188720"/>
            <a:ext cx="4023360" cy="2606040"/>
          </a:xfrm>
          <a:prstGeom prst="roundRect">
            <a:avLst>
              <a:gd name="adj" fmla="val 2807"/>
            </a:avLst>
          </a:prstGeom>
          <a:solidFill>
            <a:schemeClr val="accent5"/>
          </a:solidFill>
          <a:ln/>
        </p:spPr>
      </p:sp>
      <p:sp>
        <p:nvSpPr>
          <p:cNvPr id="9" name="sii1-bg"/>
          <p:cNvSpPr/>
          <p:nvPr/>
        </p:nvSpPr>
        <p:spPr>
          <a:xfrm>
            <a:off x="4937760" y="1417320"/>
            <a:ext cx="548640" cy="548640"/>
          </a:xfrm>
          <a:prstGeom prst="ellipse">
            <a:avLst/>
          </a:prstGeom>
          <a:solidFill>
            <a:srgbClr val="C8341B"/>
          </a:solidFill>
          <a:ln/>
        </p:spPr>
      </p:sp>
      <p:pic>
        <p:nvPicPr>
          <p:cNvPr id="10" name="sii1-icon" descr="preencoded.png">    </p:cNvPr>
          <p:cNvPicPr>
            <a:picLocks noChangeAspect="1"/>
          </p:cNvPicPr>
          <p:nvPr/>
        </p:nvPicPr>
        <p:blipFill>
          <a:blip r:embed="rId2"/>
          <a:stretch>
            <a:fillRect/>
          </a:stretch>
        </p:blipFill>
        <p:spPr>
          <a:xfrm>
            <a:off x="5080406" y="1559966"/>
            <a:ext cx="263347" cy="263347"/>
          </a:xfrm>
          <a:prstGeom prst="rect">
            <a:avLst/>
          </a:prstGeom>
        </p:spPr>
      </p:pic>
      <p:sp>
        <p:nvSpPr>
          <p:cNvPr id="11" name="sii1-t"/>
          <p:cNvSpPr txBox="1"/>
          <p:nvPr/>
        </p:nvSpPr>
        <p:spPr>
          <a:xfrm>
            <a:off x="5669280" y="1417320"/>
            <a:ext cx="2834640" cy="548640"/>
          </a:xfrm>
          <a:prstGeom prst="rect">
            <a:avLst/>
          </a:prstGeom>
          <a:noFill/>
          <a:ln/>
        </p:spPr>
        <p:txBody>
          <a:bodyPr wrap="square" lIns="0" tIns="0" rIns="0" bIns="0" rtlCol="0" anchor="ctr"/>
          <a:lstStyle/>
          <a:p>
            <a:pPr indent="0" marL="0">
              <a:buNone/>
            </a:pPr>
            <a:r>
              <a:rPr lang="en-US" sz="1700" b="1" dirty="0">
                <a:solidFill>
                  <a:schemeClr val="tx1"/>
                </a:solidFill>
              </a:rPr>
              <a:t>Lo que Fenix mantiene</a:t>
            </a:r>
            <a:endParaRPr lang="en-US" sz="1700" dirty="0"/>
          </a:p>
        </p:txBody>
      </p:sp>
      <p:sp>
        <p:nvSpPr>
          <p:cNvPr id="12" name="sii1-b"/>
          <p:cNvSpPr txBox="1"/>
          <p:nvPr/>
        </p:nvSpPr>
        <p:spPr>
          <a:xfrm>
            <a:off x="4937760" y="2194560"/>
            <a:ext cx="347472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Emitir boletas y facturas electrónicas en su facturador actual</a:t>
            </a:r>
            <a:endParaRPr lang="en-US" sz="1400" dirty="0"/>
          </a:p>
          <a:p>
            <a:pPr marL="177800" indent="-177800">
              <a:spcAft>
                <a:spcPts val="600"/>
              </a:spcAft>
              <a:buSzPct val="100000"/>
              <a:buChar char="•"/>
            </a:pPr>
            <a:r>
              <a:rPr lang="en-US" sz="1400" dirty="0">
                <a:solidFill>
                  <a:schemeClr val="tx1"/>
                </a:solidFill>
              </a:rPr>
              <a:t>Un procedimiento claro en caja</a:t>
            </a:r>
            <a:endParaRPr lang="en-US" sz="1400" dirty="0"/>
          </a:p>
          <a:p>
            <a:pPr marL="177800" indent="-177800">
              <a:spcAft>
                <a:spcPts val="600"/>
              </a:spcAft>
              <a:buSzPct val="100000"/>
              <a:buChar char="•"/>
            </a:pPr>
            <a:r>
              <a:rPr lang="en-US" sz="1400" dirty="0">
                <a:solidFill>
                  <a:schemeClr val="tx1"/>
                </a:solidFill>
              </a:rPr>
              <a:t>Validar con su contador los descuentos</a:t>
            </a:r>
            <a:endParaRPr lang="en-US" sz="1400" dirty="0"/>
          </a:p>
        </p:txBody>
      </p:sp>
      <p:sp>
        <p:nvSpPr>
          <p:cNvPr id="13" name="Text 9"/>
          <p:cNvSpPr txBox="1"/>
          <p:nvPr/>
        </p:nvSpPr>
        <p:spPr>
          <a:xfrm>
            <a:off x="457200" y="4023360"/>
            <a:ext cx="8229600" cy="320040"/>
          </a:xfrm>
          <a:prstGeom prst="rect">
            <a:avLst/>
          </a:prstGeom>
          <a:noFill/>
          <a:ln/>
        </p:spPr>
        <p:txBody>
          <a:bodyPr wrap="square" lIns="0" tIns="0" rIns="0" bIns="0" rtlCol="0" anchor="ctr"/>
          <a:lstStyle/>
          <a:p>
            <a:pPr indent="0" marL="0">
              <a:buNone/>
            </a:pPr>
            <a:r>
              <a:rPr lang="en-US" sz="1300" b="1" dirty="0">
                <a:solidFill>
                  <a:schemeClr val="accent1"/>
                </a:solidFill>
              </a:rPr>
              <a:t>Siguiente paso: indicarnos qué facturador usan para evaluar una integración</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Caja diaria y tienda web</a:t>
            </a:r>
            <a:endParaRPr lang="en-US" sz="2600" dirty="0"/>
          </a:p>
        </p:txBody>
      </p:sp>
      <p:sp>
        <p:nvSpPr>
          <p:cNvPr id="3" name="op0-bg"/>
          <p:cNvSpPr/>
          <p:nvPr/>
        </p:nvSpPr>
        <p:spPr>
          <a:xfrm>
            <a:off x="457200" y="1188720"/>
            <a:ext cx="594360" cy="594360"/>
          </a:xfrm>
          <a:prstGeom prst="ellipse">
            <a:avLst/>
          </a:prstGeom>
          <a:solidFill>
            <a:srgbClr val="C8341B"/>
          </a:solidFill>
          <a:ln/>
        </p:spPr>
      </p:sp>
      <p:pic>
        <p:nvPicPr>
          <p:cNvPr id="4" name="op0-icon" descr="preencoded.png">    </p:cNvPr>
          <p:cNvPicPr>
            <a:picLocks noChangeAspect="1"/>
          </p:cNvPicPr>
          <p:nvPr/>
        </p:nvPicPr>
        <p:blipFill>
          <a:blip r:embed="rId1"/>
          <a:stretch>
            <a:fillRect/>
          </a:stretch>
        </p:blipFill>
        <p:spPr>
          <a:xfrm>
            <a:off x="611734" y="1343254"/>
            <a:ext cx="285293" cy="285293"/>
          </a:xfrm>
          <a:prstGeom prst="rect">
            <a:avLst/>
          </a:prstGeom>
        </p:spPr>
      </p:pic>
      <p:sp>
        <p:nvSpPr>
          <p:cNvPr id="5" name="op0-t"/>
          <p:cNvSpPr txBox="1"/>
          <p:nvPr/>
        </p:nvSpPr>
        <p:spPr>
          <a:xfrm>
            <a:off x="1234440" y="1188720"/>
            <a:ext cx="3108960" cy="594360"/>
          </a:xfrm>
          <a:prstGeom prst="rect">
            <a:avLst/>
          </a:prstGeom>
          <a:noFill/>
          <a:ln/>
        </p:spPr>
        <p:txBody>
          <a:bodyPr wrap="square" lIns="0" tIns="0" rIns="0" bIns="0" rtlCol="0" anchor="ctr"/>
          <a:lstStyle/>
          <a:p>
            <a:pPr indent="0" marL="0">
              <a:buNone/>
            </a:pPr>
            <a:r>
              <a:rPr lang="en-US" sz="2000" b="1" dirty="0">
                <a:solidFill>
                  <a:schemeClr val="tx1"/>
                </a:solidFill>
              </a:rPr>
              <a:t>Caja</a:t>
            </a:r>
            <a:endParaRPr lang="en-US" sz="2000" dirty="0"/>
          </a:p>
        </p:txBody>
      </p:sp>
      <p:sp>
        <p:nvSpPr>
          <p:cNvPr id="6" name="op0-b"/>
          <p:cNvSpPr txBox="1"/>
          <p:nvPr/>
        </p:nvSpPr>
        <p:spPr>
          <a:xfrm>
            <a:off x="457200" y="2011680"/>
            <a:ext cx="3931920" cy="22860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Abrir con fondo de caja definido</a:t>
            </a:r>
            <a:endParaRPr lang="en-US" sz="1400" dirty="0"/>
          </a:p>
          <a:p>
            <a:pPr marL="177800" indent="-177800">
              <a:spcAft>
                <a:spcPts val="800"/>
              </a:spcAft>
              <a:buSzPct val="100000"/>
              <a:buChar char="•"/>
            </a:pPr>
            <a:r>
              <a:rPr lang="en-US" sz="1400" dirty="0">
                <a:solidFill>
                  <a:schemeClr val="tx1"/>
                </a:solidFill>
              </a:rPr>
              <a:t>Registrar sangrías, gastos e ingresos</a:t>
            </a:r>
            <a:endParaRPr lang="en-US" sz="1400" dirty="0"/>
          </a:p>
          <a:p>
            <a:pPr marL="177800" indent="-177800">
              <a:spcAft>
                <a:spcPts val="800"/>
              </a:spcAft>
              <a:buSzPct val="100000"/>
              <a:buChar char="•"/>
            </a:pPr>
            <a:r>
              <a:rPr lang="en-US" sz="1400" dirty="0">
                <a:solidFill>
                  <a:schemeClr val="tx1"/>
                </a:solidFill>
              </a:rPr>
              <a:t>Cerrar contando efectivo: el sistema muestra el descuadre</a:t>
            </a:r>
            <a:endParaRPr lang="en-US" sz="1400" dirty="0"/>
          </a:p>
          <a:p>
            <a:pPr marL="177800" indent="-177800">
              <a:spcAft>
                <a:spcPts val="800"/>
              </a:spcAft>
              <a:buSzPct val="100000"/>
              <a:buChar char="•"/>
            </a:pPr>
            <a:r>
              <a:rPr lang="en-US" sz="1400" dirty="0">
                <a:solidFill>
                  <a:schemeClr val="tx1"/>
                </a:solidFill>
              </a:rPr>
              <a:t>Tarjetas se cobran en el terminal bancario actual</a:t>
            </a:r>
            <a:endParaRPr lang="en-US" sz="1400" dirty="0"/>
          </a:p>
        </p:txBody>
      </p:sp>
      <p:sp>
        <p:nvSpPr>
          <p:cNvPr id="7" name="op1-bg"/>
          <p:cNvSpPr/>
          <p:nvPr/>
        </p:nvSpPr>
        <p:spPr>
          <a:xfrm>
            <a:off x="4663440" y="1188720"/>
            <a:ext cx="594360" cy="594360"/>
          </a:xfrm>
          <a:prstGeom prst="ellipse">
            <a:avLst/>
          </a:prstGeom>
          <a:solidFill>
            <a:srgbClr val="C8341B"/>
          </a:solidFill>
          <a:ln/>
        </p:spPr>
      </p:sp>
      <p:pic>
        <p:nvPicPr>
          <p:cNvPr id="8" name="op1-icon" descr="preencoded.png">    </p:cNvPr>
          <p:cNvPicPr>
            <a:picLocks noChangeAspect="1"/>
          </p:cNvPicPr>
          <p:nvPr/>
        </p:nvPicPr>
        <p:blipFill>
          <a:blip r:embed="rId2"/>
          <a:stretch>
            <a:fillRect/>
          </a:stretch>
        </p:blipFill>
        <p:spPr>
          <a:xfrm>
            <a:off x="4817974" y="1343254"/>
            <a:ext cx="285293" cy="285293"/>
          </a:xfrm>
          <a:prstGeom prst="rect">
            <a:avLst/>
          </a:prstGeom>
        </p:spPr>
      </p:pic>
      <p:sp>
        <p:nvSpPr>
          <p:cNvPr id="9" name="op1-t"/>
          <p:cNvSpPr txBox="1"/>
          <p:nvPr/>
        </p:nvSpPr>
        <p:spPr>
          <a:xfrm>
            <a:off x="5440680" y="1188720"/>
            <a:ext cx="3108960" cy="594360"/>
          </a:xfrm>
          <a:prstGeom prst="rect">
            <a:avLst/>
          </a:prstGeom>
          <a:noFill/>
          <a:ln/>
        </p:spPr>
        <p:txBody>
          <a:bodyPr wrap="square" lIns="0" tIns="0" rIns="0" bIns="0" rtlCol="0" anchor="ctr"/>
          <a:lstStyle/>
          <a:p>
            <a:pPr indent="0" marL="0">
              <a:buNone/>
            </a:pPr>
            <a:r>
              <a:rPr lang="en-US" sz="2000" b="1" dirty="0">
                <a:solidFill>
                  <a:schemeClr val="tx1"/>
                </a:solidFill>
              </a:rPr>
              <a:t>Tienda web</a:t>
            </a:r>
            <a:endParaRPr lang="en-US" sz="2000" dirty="0"/>
          </a:p>
        </p:txBody>
      </p:sp>
      <p:sp>
        <p:nvSpPr>
          <p:cNvPr id="10" name="op1-b"/>
          <p:cNvSpPr txBox="1"/>
          <p:nvPr/>
        </p:nvSpPr>
        <p:spPr>
          <a:xfrm>
            <a:off x="4663440" y="2011680"/>
            <a:ext cx="3931920" cy="22860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Afiliación a Webpay Plus para cobrar en producción</a:t>
            </a:r>
            <a:endParaRPr lang="en-US" sz="1400" dirty="0"/>
          </a:p>
          <a:p>
            <a:pPr marL="177800" indent="-177800">
              <a:spcAft>
                <a:spcPts val="800"/>
              </a:spcAft>
              <a:buSzPct val="100000"/>
              <a:buChar char="•"/>
            </a:pPr>
            <a:r>
              <a:rPr lang="en-US" sz="1400" dirty="0">
                <a:solidFill>
                  <a:schemeClr val="tx1"/>
                </a:solidFill>
              </a:rPr>
              <a:t>El stock sale al confirmarse el pago</a:t>
            </a:r>
            <a:endParaRPr lang="en-US" sz="1400" dirty="0"/>
          </a:p>
          <a:p>
            <a:pPr marL="177800" indent="-177800">
              <a:spcAft>
                <a:spcPts val="800"/>
              </a:spcAft>
              <a:buSzPct val="100000"/>
              <a:buChar char="•"/>
            </a:pPr>
            <a:r>
              <a:rPr lang="en-US" sz="1400" dirty="0">
                <a:solidFill>
                  <a:schemeClr val="tx1"/>
                </a:solidFill>
              </a:rPr>
              <a:t>Retiro gratis, despacho cercano con tarifa fija, courier por pagar</a:t>
            </a:r>
            <a:endParaRPr lang="en-US" sz="1400" dirty="0"/>
          </a:p>
          <a:p>
            <a:pPr marL="177800" indent="-177800">
              <a:spcAft>
                <a:spcPts val="800"/>
              </a:spcAft>
              <a:buSzPct val="100000"/>
              <a:buChar char="•"/>
            </a:pPr>
            <a:r>
              <a:rPr lang="en-US" sz="1400" dirty="0">
                <a:solidFill>
                  <a:schemeClr val="tx1"/>
                </a:solidFill>
              </a:rPr>
              <a:t>Responsable diario de preparar pedidos</a:t>
            </a:r>
            <a:endParaRPr lang="en-US" sz="1400" dirty="0"/>
          </a:p>
        </p:txBody>
      </p:sp>
      <p:sp>
        <p:nvSpPr>
          <p:cNvPr id="11" name="divider"/>
          <p:cNvSpPr/>
          <p:nvPr/>
        </p:nvSpPr>
        <p:spPr>
          <a:xfrm>
            <a:off x="4434840" y="1234440"/>
            <a:ext cx="0" cy="3017520"/>
          </a:xfrm>
          <a:prstGeom prst="line">
            <a:avLst/>
          </a:prstGeom>
          <a:noFill/>
          <a:ln w="12700">
            <a:solidFill>
              <a:srgbClr val="E3E6EA"/>
            </a:solidFill>
            <a:prstDash val="solid"/>
          </a:ln>
        </p:spPr>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Equipos y conectividad en cada local</a:t>
            </a:r>
            <a:endParaRPr lang="en-US" sz="2600" dirty="0"/>
          </a:p>
        </p:txBody>
      </p:sp>
      <p:sp>
        <p:nvSpPr>
          <p:cNvPr id="3" name="eq0-bg"/>
          <p:cNvSpPr/>
          <p:nvPr/>
        </p:nvSpPr>
        <p:spPr>
          <a:xfrm>
            <a:off x="457200" y="1234440"/>
            <a:ext cx="566928" cy="566928"/>
          </a:xfrm>
          <a:prstGeom prst="ellipse">
            <a:avLst/>
          </a:prstGeom>
          <a:solidFill>
            <a:srgbClr val="C8341B"/>
          </a:solidFill>
          <a:ln/>
        </p:spPr>
      </p:sp>
      <p:pic>
        <p:nvPicPr>
          <p:cNvPr id="4" name="eq0-icon" descr="preencoded.png">    </p:cNvPr>
          <p:cNvPicPr>
            <a:picLocks noChangeAspect="1"/>
          </p:cNvPicPr>
          <p:nvPr/>
        </p:nvPicPr>
        <p:blipFill>
          <a:blip r:embed="rId1"/>
          <a:stretch>
            <a:fillRect/>
          </a:stretch>
        </p:blipFill>
        <p:spPr>
          <a:xfrm>
            <a:off x="604601" y="1381841"/>
            <a:ext cx="272125" cy="272125"/>
          </a:xfrm>
          <a:prstGeom prst="rect">
            <a:avLst/>
          </a:prstGeom>
        </p:spPr>
      </p:pic>
      <p:sp>
        <p:nvSpPr>
          <p:cNvPr id="5" name="eq0-t"/>
          <p:cNvSpPr txBox="1"/>
          <p:nvPr/>
        </p:nvSpPr>
        <p:spPr>
          <a:xfrm>
            <a:off x="1188720" y="1216152"/>
            <a:ext cx="1920240" cy="365760"/>
          </a:xfrm>
          <a:prstGeom prst="rect">
            <a:avLst/>
          </a:prstGeom>
          <a:noFill/>
          <a:ln/>
        </p:spPr>
        <p:txBody>
          <a:bodyPr wrap="square" lIns="0" tIns="0" rIns="0" bIns="0" rtlCol="0" anchor="ctr"/>
          <a:lstStyle/>
          <a:p>
            <a:pPr indent="0" marL="0">
              <a:buNone/>
            </a:pPr>
            <a:r>
              <a:rPr lang="en-US" sz="1500" b="1" dirty="0">
                <a:solidFill>
                  <a:schemeClr val="tx1"/>
                </a:solidFill>
              </a:rPr>
              <a:t>Internet + respaldo</a:t>
            </a:r>
            <a:endParaRPr lang="en-US" sz="1500" dirty="0"/>
          </a:p>
        </p:txBody>
      </p:sp>
      <p:sp>
        <p:nvSpPr>
          <p:cNvPr id="6" name="eq0-d"/>
          <p:cNvSpPr txBox="1"/>
          <p:nvPr/>
        </p:nvSpPr>
        <p:spPr>
          <a:xfrm>
            <a:off x="1188720" y="1600200"/>
            <a:ext cx="1920240" cy="685800"/>
          </a:xfrm>
          <a:prstGeom prst="rect">
            <a:avLst/>
          </a:prstGeom>
          <a:noFill/>
          <a:ln/>
        </p:spPr>
        <p:txBody>
          <a:bodyPr wrap="square" lIns="0" tIns="0" rIns="0" bIns="0" rtlCol="0" anchor="t"/>
          <a:lstStyle/>
          <a:p>
            <a:pPr indent="0" marL="0">
              <a:buNone/>
            </a:pPr>
            <a:r>
              <a:rPr lang="en-US" sz="1200" dirty="0">
                <a:solidFill>
                  <a:schemeClr val="tx2"/>
                </a:solidFill>
              </a:rPr>
              <a:t>Sin conexión no se vende en el sistema</a:t>
            </a:r>
            <a:endParaRPr lang="en-US" sz="1200" dirty="0"/>
          </a:p>
        </p:txBody>
      </p:sp>
      <p:sp>
        <p:nvSpPr>
          <p:cNvPr id="7" name="eq1-bg"/>
          <p:cNvSpPr/>
          <p:nvPr/>
        </p:nvSpPr>
        <p:spPr>
          <a:xfrm>
            <a:off x="3246120" y="1234440"/>
            <a:ext cx="566928" cy="566928"/>
          </a:xfrm>
          <a:prstGeom prst="ellipse">
            <a:avLst/>
          </a:prstGeom>
          <a:solidFill>
            <a:srgbClr val="1F2328"/>
          </a:solidFill>
          <a:ln/>
        </p:spPr>
      </p:sp>
      <p:pic>
        <p:nvPicPr>
          <p:cNvPr id="8" name="eq1-icon" descr="preencoded.png">    </p:cNvPr>
          <p:cNvPicPr>
            <a:picLocks noChangeAspect="1"/>
          </p:cNvPicPr>
          <p:nvPr/>
        </p:nvPicPr>
        <p:blipFill>
          <a:blip r:embed="rId2"/>
          <a:stretch>
            <a:fillRect/>
          </a:stretch>
        </p:blipFill>
        <p:spPr>
          <a:xfrm>
            <a:off x="3393521" y="1381841"/>
            <a:ext cx="272125" cy="272125"/>
          </a:xfrm>
          <a:prstGeom prst="rect">
            <a:avLst/>
          </a:prstGeom>
        </p:spPr>
      </p:pic>
      <p:sp>
        <p:nvSpPr>
          <p:cNvPr id="9" name="eq1-t"/>
          <p:cNvSpPr txBox="1"/>
          <p:nvPr/>
        </p:nvSpPr>
        <p:spPr>
          <a:xfrm>
            <a:off x="3977640" y="1216152"/>
            <a:ext cx="1920240" cy="365760"/>
          </a:xfrm>
          <a:prstGeom prst="rect">
            <a:avLst/>
          </a:prstGeom>
          <a:noFill/>
          <a:ln/>
        </p:spPr>
        <p:txBody>
          <a:bodyPr wrap="square" lIns="0" tIns="0" rIns="0" bIns="0" rtlCol="0" anchor="ctr"/>
          <a:lstStyle/>
          <a:p>
            <a:pPr indent="0" marL="0">
              <a:buNone/>
            </a:pPr>
            <a:r>
              <a:rPr lang="en-US" sz="1500" b="1" dirty="0">
                <a:solidFill>
                  <a:schemeClr val="tx1"/>
                </a:solidFill>
              </a:rPr>
              <a:t>Equipo por caja</a:t>
            </a:r>
            <a:endParaRPr lang="en-US" sz="1500" dirty="0"/>
          </a:p>
        </p:txBody>
      </p:sp>
      <p:sp>
        <p:nvSpPr>
          <p:cNvPr id="10" name="eq1-d"/>
          <p:cNvSpPr txBox="1"/>
          <p:nvPr/>
        </p:nvSpPr>
        <p:spPr>
          <a:xfrm>
            <a:off x="3977640" y="1600200"/>
            <a:ext cx="1920240" cy="685800"/>
          </a:xfrm>
          <a:prstGeom prst="rect">
            <a:avLst/>
          </a:prstGeom>
          <a:noFill/>
          <a:ln/>
        </p:spPr>
        <p:txBody>
          <a:bodyPr wrap="square" lIns="0" tIns="0" rIns="0" bIns="0" rtlCol="0" anchor="t"/>
          <a:lstStyle/>
          <a:p>
            <a:pPr indent="0" marL="0">
              <a:buNone/>
            </a:pPr>
            <a:r>
              <a:rPr lang="en-US" sz="1200" dirty="0">
                <a:solidFill>
                  <a:schemeClr val="tx2"/>
                </a:solidFill>
              </a:rPr>
              <a:t>Computador o tablet con Chrome</a:t>
            </a:r>
            <a:endParaRPr lang="en-US" sz="1200" dirty="0"/>
          </a:p>
        </p:txBody>
      </p:sp>
      <p:sp>
        <p:nvSpPr>
          <p:cNvPr id="11" name="eq2-bg"/>
          <p:cNvSpPr/>
          <p:nvPr/>
        </p:nvSpPr>
        <p:spPr>
          <a:xfrm>
            <a:off x="6035040" y="1234440"/>
            <a:ext cx="566928" cy="566928"/>
          </a:xfrm>
          <a:prstGeom prst="ellipse">
            <a:avLst/>
          </a:prstGeom>
          <a:solidFill>
            <a:srgbClr val="1F2328"/>
          </a:solidFill>
          <a:ln/>
        </p:spPr>
      </p:sp>
      <p:pic>
        <p:nvPicPr>
          <p:cNvPr id="12" name="eq2-icon" descr="preencoded.png">    </p:cNvPr>
          <p:cNvPicPr>
            <a:picLocks noChangeAspect="1"/>
          </p:cNvPicPr>
          <p:nvPr/>
        </p:nvPicPr>
        <p:blipFill>
          <a:blip r:embed="rId3"/>
          <a:stretch>
            <a:fillRect/>
          </a:stretch>
        </p:blipFill>
        <p:spPr>
          <a:xfrm>
            <a:off x="6182441" y="1381841"/>
            <a:ext cx="272125" cy="272125"/>
          </a:xfrm>
          <a:prstGeom prst="rect">
            <a:avLst/>
          </a:prstGeom>
        </p:spPr>
      </p:pic>
      <p:sp>
        <p:nvSpPr>
          <p:cNvPr id="13" name="eq2-t"/>
          <p:cNvSpPr txBox="1"/>
          <p:nvPr/>
        </p:nvSpPr>
        <p:spPr>
          <a:xfrm>
            <a:off x="6766560" y="1216152"/>
            <a:ext cx="1920240" cy="365760"/>
          </a:xfrm>
          <a:prstGeom prst="rect">
            <a:avLst/>
          </a:prstGeom>
          <a:noFill/>
          <a:ln/>
        </p:spPr>
        <p:txBody>
          <a:bodyPr wrap="square" lIns="0" tIns="0" rIns="0" bIns="0" rtlCol="0" anchor="ctr"/>
          <a:lstStyle/>
          <a:p>
            <a:pPr indent="0" marL="0">
              <a:buNone/>
            </a:pPr>
            <a:r>
              <a:rPr lang="en-US" sz="1500" b="1" dirty="0">
                <a:solidFill>
                  <a:schemeClr val="tx1"/>
                </a:solidFill>
              </a:rPr>
              <a:t>Lector de códigos</a:t>
            </a:r>
            <a:endParaRPr lang="en-US" sz="1500" dirty="0"/>
          </a:p>
        </p:txBody>
      </p:sp>
      <p:sp>
        <p:nvSpPr>
          <p:cNvPr id="14" name="eq2-d"/>
          <p:cNvSpPr txBox="1"/>
          <p:nvPr/>
        </p:nvSpPr>
        <p:spPr>
          <a:xfrm>
            <a:off x="6766560" y="1600200"/>
            <a:ext cx="1920240" cy="685800"/>
          </a:xfrm>
          <a:prstGeom prst="rect">
            <a:avLst/>
          </a:prstGeom>
          <a:noFill/>
          <a:ln/>
        </p:spPr>
        <p:txBody>
          <a:bodyPr wrap="square" lIns="0" tIns="0" rIns="0" bIns="0" rtlCol="0" anchor="t"/>
          <a:lstStyle/>
          <a:p>
            <a:pPr indent="0" marL="0">
              <a:buNone/>
            </a:pPr>
            <a:r>
              <a:rPr lang="en-US" sz="1200" dirty="0">
                <a:solidFill>
                  <a:schemeClr val="tx2"/>
                </a:solidFill>
              </a:rPr>
              <a:t>USB o inalámbrico, para caja y conteos</a:t>
            </a:r>
            <a:endParaRPr lang="en-US" sz="1200" dirty="0"/>
          </a:p>
        </p:txBody>
      </p:sp>
      <p:sp>
        <p:nvSpPr>
          <p:cNvPr id="15" name="eq3-bg"/>
          <p:cNvSpPr/>
          <p:nvPr/>
        </p:nvSpPr>
        <p:spPr>
          <a:xfrm>
            <a:off x="457200" y="2834640"/>
            <a:ext cx="566928" cy="566928"/>
          </a:xfrm>
          <a:prstGeom prst="ellipse">
            <a:avLst/>
          </a:prstGeom>
          <a:solidFill>
            <a:srgbClr val="1F2328"/>
          </a:solidFill>
          <a:ln/>
        </p:spPr>
      </p:sp>
      <p:pic>
        <p:nvPicPr>
          <p:cNvPr id="16" name="eq3-icon" descr="preencoded.png">    </p:cNvPr>
          <p:cNvPicPr>
            <a:picLocks noChangeAspect="1"/>
          </p:cNvPicPr>
          <p:nvPr/>
        </p:nvPicPr>
        <p:blipFill>
          <a:blip r:embed="rId4"/>
          <a:stretch>
            <a:fillRect/>
          </a:stretch>
        </p:blipFill>
        <p:spPr>
          <a:xfrm>
            <a:off x="604601" y="2982041"/>
            <a:ext cx="272125" cy="272125"/>
          </a:xfrm>
          <a:prstGeom prst="rect">
            <a:avLst/>
          </a:prstGeom>
        </p:spPr>
      </p:pic>
      <p:sp>
        <p:nvSpPr>
          <p:cNvPr id="17" name="eq3-t"/>
          <p:cNvSpPr txBox="1"/>
          <p:nvPr/>
        </p:nvSpPr>
        <p:spPr>
          <a:xfrm>
            <a:off x="1188720" y="2816352"/>
            <a:ext cx="1920240" cy="365760"/>
          </a:xfrm>
          <a:prstGeom prst="rect">
            <a:avLst/>
          </a:prstGeom>
          <a:noFill/>
          <a:ln/>
        </p:spPr>
        <p:txBody>
          <a:bodyPr wrap="square" lIns="0" tIns="0" rIns="0" bIns="0" rtlCol="0" anchor="ctr"/>
          <a:lstStyle/>
          <a:p>
            <a:pPr indent="0" marL="0">
              <a:buNone/>
            </a:pPr>
            <a:r>
              <a:rPr lang="en-US" sz="1500" b="1" dirty="0">
                <a:solidFill>
                  <a:schemeClr val="tx1"/>
                </a:solidFill>
              </a:rPr>
              <a:t>Celulares</a:t>
            </a:r>
            <a:endParaRPr lang="en-US" sz="1500" dirty="0"/>
          </a:p>
        </p:txBody>
      </p:sp>
      <p:sp>
        <p:nvSpPr>
          <p:cNvPr id="18" name="eq3-d"/>
          <p:cNvSpPr txBox="1"/>
          <p:nvPr/>
        </p:nvSpPr>
        <p:spPr>
          <a:xfrm>
            <a:off x="1188720" y="3200400"/>
            <a:ext cx="1920240" cy="685800"/>
          </a:xfrm>
          <a:prstGeom prst="rect">
            <a:avLst/>
          </a:prstGeom>
          <a:noFill/>
          <a:ln/>
        </p:spPr>
        <p:txBody>
          <a:bodyPr wrap="square" lIns="0" tIns="0" rIns="0" bIns="0" rtlCol="0" anchor="t"/>
          <a:lstStyle/>
          <a:p>
            <a:pPr indent="0" marL="0">
              <a:buNone/>
            </a:pPr>
            <a:r>
              <a:rPr lang="en-US" sz="1200" dirty="0">
                <a:solidFill>
                  <a:schemeClr val="tx2"/>
                </a:solidFill>
              </a:rPr>
              <a:t>Tomas de inventario en bodega</a:t>
            </a:r>
            <a:endParaRPr lang="en-US" sz="1200" dirty="0"/>
          </a:p>
        </p:txBody>
      </p:sp>
      <p:sp>
        <p:nvSpPr>
          <p:cNvPr id="19" name="eq4-bg"/>
          <p:cNvSpPr/>
          <p:nvPr/>
        </p:nvSpPr>
        <p:spPr>
          <a:xfrm>
            <a:off x="3246120" y="2834640"/>
            <a:ext cx="566928" cy="566928"/>
          </a:xfrm>
          <a:prstGeom prst="ellipse">
            <a:avLst/>
          </a:prstGeom>
          <a:solidFill>
            <a:srgbClr val="1F2328"/>
          </a:solidFill>
          <a:ln/>
        </p:spPr>
      </p:sp>
      <p:pic>
        <p:nvPicPr>
          <p:cNvPr id="20" name="eq4-icon" descr="preencoded.png">    </p:cNvPr>
          <p:cNvPicPr>
            <a:picLocks noChangeAspect="1"/>
          </p:cNvPicPr>
          <p:nvPr/>
        </p:nvPicPr>
        <p:blipFill>
          <a:blip r:embed="rId5"/>
          <a:stretch>
            <a:fillRect/>
          </a:stretch>
        </p:blipFill>
        <p:spPr>
          <a:xfrm>
            <a:off x="3393521" y="2982041"/>
            <a:ext cx="272125" cy="272125"/>
          </a:xfrm>
          <a:prstGeom prst="rect">
            <a:avLst/>
          </a:prstGeom>
        </p:spPr>
      </p:pic>
      <p:sp>
        <p:nvSpPr>
          <p:cNvPr id="21" name="eq4-t"/>
          <p:cNvSpPr txBox="1"/>
          <p:nvPr/>
        </p:nvSpPr>
        <p:spPr>
          <a:xfrm>
            <a:off x="3977640" y="2816352"/>
            <a:ext cx="1920240" cy="365760"/>
          </a:xfrm>
          <a:prstGeom prst="rect">
            <a:avLst/>
          </a:prstGeom>
          <a:noFill/>
          <a:ln/>
        </p:spPr>
        <p:txBody>
          <a:bodyPr wrap="square" lIns="0" tIns="0" rIns="0" bIns="0" rtlCol="0" anchor="ctr"/>
          <a:lstStyle/>
          <a:p>
            <a:pPr indent="0" marL="0">
              <a:buNone/>
            </a:pPr>
            <a:r>
              <a:rPr lang="en-US" sz="1500" b="1" dirty="0">
                <a:solidFill>
                  <a:schemeClr val="tx1"/>
                </a:solidFill>
              </a:rPr>
              <a:t>Correo del sistema</a:t>
            </a:r>
            <a:endParaRPr lang="en-US" sz="1500" dirty="0"/>
          </a:p>
        </p:txBody>
      </p:sp>
      <p:sp>
        <p:nvSpPr>
          <p:cNvPr id="22" name="eq4-d"/>
          <p:cNvSpPr txBox="1"/>
          <p:nvPr/>
        </p:nvSpPr>
        <p:spPr>
          <a:xfrm>
            <a:off x="3977640" y="3200400"/>
            <a:ext cx="1920240" cy="685800"/>
          </a:xfrm>
          <a:prstGeom prst="rect">
            <a:avLst/>
          </a:prstGeom>
          <a:noFill/>
          <a:ln/>
        </p:spPr>
        <p:txBody>
          <a:bodyPr wrap="square" lIns="0" tIns="0" rIns="0" bIns="0" rtlCol="0" anchor="t"/>
          <a:lstStyle/>
          <a:p>
            <a:pPr indent="0" marL="0">
              <a:buNone/>
            </a:pPr>
            <a:r>
              <a:rPr lang="en-US" sz="1200" dirty="0">
                <a:solidFill>
                  <a:schemeClr val="tx2"/>
                </a:solidFill>
              </a:rPr>
              <a:t>Envía boletas y aprobaciones</a:t>
            </a:r>
            <a:endParaRPr lang="en-US" sz="1200" dirty="0"/>
          </a:p>
        </p:txBody>
      </p:sp>
      <p:sp>
        <p:nvSpPr>
          <p:cNvPr id="23" name="eq5-bg"/>
          <p:cNvSpPr/>
          <p:nvPr/>
        </p:nvSpPr>
        <p:spPr>
          <a:xfrm>
            <a:off x="6035040" y="2834640"/>
            <a:ext cx="566928" cy="566928"/>
          </a:xfrm>
          <a:prstGeom prst="ellipse">
            <a:avLst/>
          </a:prstGeom>
          <a:solidFill>
            <a:srgbClr val="1F2328"/>
          </a:solidFill>
          <a:ln/>
        </p:spPr>
      </p:sp>
      <p:pic>
        <p:nvPicPr>
          <p:cNvPr id="24" name="eq5-icon" descr="preencoded.png">    </p:cNvPr>
          <p:cNvPicPr>
            <a:picLocks noChangeAspect="1"/>
          </p:cNvPicPr>
          <p:nvPr/>
        </p:nvPicPr>
        <p:blipFill>
          <a:blip r:embed="rId6"/>
          <a:stretch>
            <a:fillRect/>
          </a:stretch>
        </p:blipFill>
        <p:spPr>
          <a:xfrm>
            <a:off x="6182441" y="2982041"/>
            <a:ext cx="272125" cy="272125"/>
          </a:xfrm>
          <a:prstGeom prst="rect">
            <a:avLst/>
          </a:prstGeom>
        </p:spPr>
      </p:pic>
      <p:sp>
        <p:nvSpPr>
          <p:cNvPr id="25" name="eq5-t"/>
          <p:cNvSpPr txBox="1"/>
          <p:nvPr/>
        </p:nvSpPr>
        <p:spPr>
          <a:xfrm>
            <a:off x="6766560" y="2816352"/>
            <a:ext cx="1920240" cy="365760"/>
          </a:xfrm>
          <a:prstGeom prst="rect">
            <a:avLst/>
          </a:prstGeom>
          <a:noFill/>
          <a:ln/>
        </p:spPr>
        <p:txBody>
          <a:bodyPr wrap="square" lIns="0" tIns="0" rIns="0" bIns="0" rtlCol="0" anchor="ctr"/>
          <a:lstStyle/>
          <a:p>
            <a:pPr indent="0" marL="0">
              <a:buNone/>
            </a:pPr>
            <a:r>
              <a:rPr lang="en-US" sz="1500" b="1" dirty="0">
                <a:solidFill>
                  <a:schemeClr val="tx1"/>
                </a:solidFill>
              </a:rPr>
              <a:t>Dominio web</a:t>
            </a:r>
            <a:endParaRPr lang="en-US" sz="1500" dirty="0"/>
          </a:p>
        </p:txBody>
      </p:sp>
      <p:sp>
        <p:nvSpPr>
          <p:cNvPr id="26" name="eq5-d"/>
          <p:cNvSpPr txBox="1"/>
          <p:nvPr/>
        </p:nvSpPr>
        <p:spPr>
          <a:xfrm>
            <a:off x="6766560" y="3200400"/>
            <a:ext cx="1920240" cy="685800"/>
          </a:xfrm>
          <a:prstGeom prst="rect">
            <a:avLst/>
          </a:prstGeom>
          <a:noFill/>
          <a:ln/>
        </p:spPr>
        <p:txBody>
          <a:bodyPr wrap="square" lIns="0" tIns="0" rIns="0" bIns="0" rtlCol="0" anchor="t"/>
          <a:lstStyle/>
          <a:p>
            <a:pPr indent="0" marL="0">
              <a:buNone/>
            </a:pPr>
            <a:r>
              <a:rPr lang="en-US" sz="1200" dirty="0">
                <a:solidFill>
                  <a:schemeClr val="tx2"/>
                </a:solidFill>
              </a:rPr>
              <a:t>Quién administra el dominio propio</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2600" b="1" dirty="0">
                <a:solidFill>
                  <a:schemeClr val="tx1"/>
                </a:solidFill>
              </a:rPr>
              <a:t>Calendario sugerido</a:t>
            </a:r>
            <a:endParaRPr lang="en-US" sz="2600" dirty="0"/>
          </a:p>
        </p:txBody>
      </p:sp>
      <p:sp>
        <p:nvSpPr>
          <p:cNvPr id="3" name="timeline"/>
          <p:cNvSpPr/>
          <p:nvPr/>
        </p:nvSpPr>
        <p:spPr>
          <a:xfrm>
            <a:off x="1143000" y="1874520"/>
            <a:ext cx="6858000" cy="0"/>
          </a:xfrm>
          <a:prstGeom prst="line">
            <a:avLst/>
          </a:prstGeom>
          <a:noFill/>
          <a:ln w="25400">
            <a:solidFill>
              <a:srgbClr val="E3E6EA"/>
            </a:solidFill>
            <a:prstDash val="solid"/>
          </a:ln>
        </p:spPr>
      </p:sp>
      <p:sp>
        <p:nvSpPr>
          <p:cNvPr id="4" name="t0-dot"/>
          <p:cNvSpPr/>
          <p:nvPr/>
        </p:nvSpPr>
        <p:spPr>
          <a:xfrm>
            <a:off x="987552" y="1719072"/>
            <a:ext cx="310896" cy="310896"/>
          </a:xfrm>
          <a:prstGeom prst="ellipse">
            <a:avLst/>
          </a:prstGeom>
          <a:solidFill>
            <a:schemeClr val="tx1"/>
          </a:solidFill>
          <a:ln w="25400">
            <a:solidFill>
              <a:srgbClr val="FFFFFF"/>
            </a:solidFill>
            <a:prstDash val="solid"/>
          </a:ln>
        </p:spPr>
      </p:sp>
      <p:sp>
        <p:nvSpPr>
          <p:cNvPr id="5" name="t0-l"/>
          <p:cNvSpPr txBox="1"/>
          <p:nvPr/>
        </p:nvSpPr>
        <p:spPr>
          <a:xfrm>
            <a:off x="502920" y="1188720"/>
            <a:ext cx="1280160" cy="411480"/>
          </a:xfrm>
          <a:prstGeom prst="rect">
            <a:avLst/>
          </a:prstGeom>
          <a:noFill/>
          <a:ln/>
        </p:spPr>
        <p:txBody>
          <a:bodyPr wrap="square" lIns="0" tIns="0" rIns="0" bIns="0" rtlCol="0" anchor="ctr"/>
          <a:lstStyle/>
          <a:p>
            <a:pPr algn="ctr" indent="0" marL="0">
              <a:buNone/>
            </a:pPr>
            <a:r>
              <a:rPr lang="en-US" sz="1500" b="1" dirty="0">
                <a:solidFill>
                  <a:schemeClr val="tx1"/>
                </a:solidFill>
              </a:rPr>
              <a:t>−3 sem</a:t>
            </a:r>
            <a:endParaRPr lang="en-US" sz="1500" dirty="0"/>
          </a:p>
        </p:txBody>
      </p:sp>
      <p:sp>
        <p:nvSpPr>
          <p:cNvPr id="6" name="t0-d"/>
          <p:cNvSpPr txBox="1"/>
          <p:nvPr/>
        </p:nvSpPr>
        <p:spPr>
          <a:xfrm>
            <a:off x="530352" y="2240280"/>
            <a:ext cx="1225296" cy="1463040"/>
          </a:xfrm>
          <a:prstGeom prst="rect">
            <a:avLst/>
          </a:prstGeom>
          <a:noFill/>
          <a:ln/>
        </p:spPr>
        <p:txBody>
          <a:bodyPr wrap="square" lIns="0" tIns="0" rIns="0" bIns="0" rtlCol="0" anchor="t"/>
          <a:lstStyle/>
          <a:p>
            <a:pPr algn="ctr" indent="0" marL="0">
              <a:buNone/>
            </a:pPr>
            <a:r>
              <a:rPr lang="en-US" sz="1200" dirty="0">
                <a:solidFill>
                  <a:schemeClr val="tx2"/>
                </a:solidFill>
              </a:rPr>
              <a:t>Responsable, depurar catálogo, Webpay y facturador</a:t>
            </a:r>
            <a:endParaRPr lang="en-US" sz="1200" dirty="0"/>
          </a:p>
        </p:txBody>
      </p:sp>
      <p:sp>
        <p:nvSpPr>
          <p:cNvPr id="7" name="t1-dot"/>
          <p:cNvSpPr/>
          <p:nvPr/>
        </p:nvSpPr>
        <p:spPr>
          <a:xfrm>
            <a:off x="2359152" y="1719072"/>
            <a:ext cx="310896" cy="310896"/>
          </a:xfrm>
          <a:prstGeom prst="ellipse">
            <a:avLst/>
          </a:prstGeom>
          <a:solidFill>
            <a:schemeClr val="tx1"/>
          </a:solidFill>
          <a:ln w="25400">
            <a:solidFill>
              <a:srgbClr val="FFFFFF"/>
            </a:solidFill>
            <a:prstDash val="solid"/>
          </a:ln>
        </p:spPr>
      </p:sp>
      <p:sp>
        <p:nvSpPr>
          <p:cNvPr id="8" name="t1-l"/>
          <p:cNvSpPr txBox="1"/>
          <p:nvPr/>
        </p:nvSpPr>
        <p:spPr>
          <a:xfrm>
            <a:off x="1874520" y="1188720"/>
            <a:ext cx="1280160" cy="411480"/>
          </a:xfrm>
          <a:prstGeom prst="rect">
            <a:avLst/>
          </a:prstGeom>
          <a:noFill/>
          <a:ln/>
        </p:spPr>
        <p:txBody>
          <a:bodyPr wrap="square" lIns="0" tIns="0" rIns="0" bIns="0" rtlCol="0" anchor="ctr"/>
          <a:lstStyle/>
          <a:p>
            <a:pPr algn="ctr" indent="0" marL="0">
              <a:buNone/>
            </a:pPr>
            <a:r>
              <a:rPr lang="en-US" sz="1500" b="1" dirty="0">
                <a:solidFill>
                  <a:schemeClr val="tx1"/>
                </a:solidFill>
              </a:rPr>
              <a:t>−2 sem</a:t>
            </a:r>
            <a:endParaRPr lang="en-US" sz="1500" dirty="0"/>
          </a:p>
        </p:txBody>
      </p:sp>
      <p:sp>
        <p:nvSpPr>
          <p:cNvPr id="9" name="t1-d"/>
          <p:cNvSpPr txBox="1"/>
          <p:nvPr/>
        </p:nvSpPr>
        <p:spPr>
          <a:xfrm>
            <a:off x="1901952" y="2240280"/>
            <a:ext cx="1225296" cy="1463040"/>
          </a:xfrm>
          <a:prstGeom prst="rect">
            <a:avLst/>
          </a:prstGeom>
          <a:noFill/>
          <a:ln/>
        </p:spPr>
        <p:txBody>
          <a:bodyPr wrap="square" lIns="0" tIns="0" rIns="0" bIns="0" rtlCol="0" anchor="t"/>
          <a:lstStyle/>
          <a:p>
            <a:pPr algn="ctr" indent="0" marL="0">
              <a:buNone/>
            </a:pPr>
            <a:r>
              <a:rPr lang="en-US" sz="1200" dirty="0">
                <a:solidFill>
                  <a:schemeClr val="tx2"/>
                </a:solidFill>
              </a:rPr>
              <a:t>Carga de catálogo, clientes, proveedores y permisos</a:t>
            </a:r>
            <a:endParaRPr lang="en-US" sz="1200" dirty="0"/>
          </a:p>
        </p:txBody>
      </p:sp>
      <p:sp>
        <p:nvSpPr>
          <p:cNvPr id="10" name="t2-dot"/>
          <p:cNvSpPr/>
          <p:nvPr/>
        </p:nvSpPr>
        <p:spPr>
          <a:xfrm>
            <a:off x="3730752" y="1719072"/>
            <a:ext cx="310896" cy="310896"/>
          </a:xfrm>
          <a:prstGeom prst="ellipse">
            <a:avLst/>
          </a:prstGeom>
          <a:solidFill>
            <a:schemeClr val="tx1"/>
          </a:solidFill>
          <a:ln w="25400">
            <a:solidFill>
              <a:srgbClr val="FFFFFF"/>
            </a:solidFill>
            <a:prstDash val="solid"/>
          </a:ln>
        </p:spPr>
      </p:sp>
      <p:sp>
        <p:nvSpPr>
          <p:cNvPr id="11" name="t2-l"/>
          <p:cNvSpPr txBox="1"/>
          <p:nvPr/>
        </p:nvSpPr>
        <p:spPr>
          <a:xfrm>
            <a:off x="3246120" y="1188720"/>
            <a:ext cx="1280160" cy="411480"/>
          </a:xfrm>
          <a:prstGeom prst="rect">
            <a:avLst/>
          </a:prstGeom>
          <a:noFill/>
          <a:ln/>
        </p:spPr>
        <p:txBody>
          <a:bodyPr wrap="square" lIns="0" tIns="0" rIns="0" bIns="0" rtlCol="0" anchor="ctr"/>
          <a:lstStyle/>
          <a:p>
            <a:pPr algn="ctr" indent="0" marL="0">
              <a:buNone/>
            </a:pPr>
            <a:r>
              <a:rPr lang="en-US" sz="1500" b="1" dirty="0">
                <a:solidFill>
                  <a:schemeClr val="tx1"/>
                </a:solidFill>
              </a:rPr>
              <a:t>−1 sem</a:t>
            </a:r>
            <a:endParaRPr lang="en-US" sz="1500" dirty="0"/>
          </a:p>
        </p:txBody>
      </p:sp>
      <p:sp>
        <p:nvSpPr>
          <p:cNvPr id="12" name="t2-d"/>
          <p:cNvSpPr txBox="1"/>
          <p:nvPr/>
        </p:nvSpPr>
        <p:spPr>
          <a:xfrm>
            <a:off x="3273552" y="2240280"/>
            <a:ext cx="1225296" cy="1463040"/>
          </a:xfrm>
          <a:prstGeom prst="rect">
            <a:avLst/>
          </a:prstGeom>
          <a:noFill/>
          <a:ln/>
        </p:spPr>
        <p:txBody>
          <a:bodyPr wrap="square" lIns="0" tIns="0" rIns="0" bIns="0" rtlCol="0" anchor="t"/>
          <a:lstStyle/>
          <a:p>
            <a:pPr algn="ctr" indent="0" marL="0">
              <a:buNone/>
            </a:pPr>
            <a:r>
              <a:rPr lang="en-US" sz="1200" dirty="0">
                <a:solidFill>
                  <a:schemeClr val="tx2"/>
                </a:solidFill>
              </a:rPr>
              <a:t>Capacitación por perfil y jornada de prueba</a:t>
            </a:r>
            <a:endParaRPr lang="en-US" sz="1200" dirty="0"/>
          </a:p>
        </p:txBody>
      </p:sp>
      <p:sp>
        <p:nvSpPr>
          <p:cNvPr id="13" name="t3-dot"/>
          <p:cNvSpPr/>
          <p:nvPr/>
        </p:nvSpPr>
        <p:spPr>
          <a:xfrm>
            <a:off x="5102352" y="1719072"/>
            <a:ext cx="310896" cy="310896"/>
          </a:xfrm>
          <a:prstGeom prst="ellipse">
            <a:avLst/>
          </a:prstGeom>
          <a:solidFill>
            <a:schemeClr val="accent1"/>
          </a:solidFill>
          <a:ln w="25400">
            <a:solidFill>
              <a:srgbClr val="FFFFFF"/>
            </a:solidFill>
            <a:prstDash val="solid"/>
          </a:ln>
        </p:spPr>
      </p:sp>
      <p:sp>
        <p:nvSpPr>
          <p:cNvPr id="14" name="t3-l"/>
          <p:cNvSpPr txBox="1"/>
          <p:nvPr/>
        </p:nvSpPr>
        <p:spPr>
          <a:xfrm>
            <a:off x="4617720" y="1188720"/>
            <a:ext cx="1280160" cy="411480"/>
          </a:xfrm>
          <a:prstGeom prst="rect">
            <a:avLst/>
          </a:prstGeom>
          <a:noFill/>
          <a:ln/>
        </p:spPr>
        <p:txBody>
          <a:bodyPr wrap="square" lIns="0" tIns="0" rIns="0" bIns="0" rtlCol="0" anchor="ctr"/>
          <a:lstStyle/>
          <a:p>
            <a:pPr algn="ctr" indent="0" marL="0">
              <a:buNone/>
            </a:pPr>
            <a:r>
              <a:rPr lang="en-US" sz="1500" b="1" dirty="0">
                <a:solidFill>
                  <a:schemeClr val="accent1"/>
                </a:solidFill>
              </a:rPr>
              <a:t>Día 0</a:t>
            </a:r>
            <a:endParaRPr lang="en-US" sz="1500" dirty="0"/>
          </a:p>
        </p:txBody>
      </p:sp>
      <p:sp>
        <p:nvSpPr>
          <p:cNvPr id="15" name="t3-d"/>
          <p:cNvSpPr txBox="1"/>
          <p:nvPr/>
        </p:nvSpPr>
        <p:spPr>
          <a:xfrm>
            <a:off x="4645152" y="2240280"/>
            <a:ext cx="1225296" cy="1463040"/>
          </a:xfrm>
          <a:prstGeom prst="rect">
            <a:avLst/>
          </a:prstGeom>
          <a:noFill/>
          <a:ln/>
        </p:spPr>
        <p:txBody>
          <a:bodyPr wrap="square" lIns="0" tIns="0" rIns="0" bIns="0" rtlCol="0" anchor="t"/>
          <a:lstStyle/>
          <a:p>
            <a:pPr algn="ctr" indent="0" marL="0">
              <a:buNone/>
            </a:pPr>
            <a:r>
              <a:rPr lang="en-US" sz="1200" dirty="0">
                <a:solidFill>
                  <a:schemeClr val="tx2"/>
                </a:solidFill>
              </a:rPr>
              <a:t>Toma de inventario y limpieza de datos de prueba</a:t>
            </a:r>
            <a:endParaRPr lang="en-US" sz="1200" dirty="0"/>
          </a:p>
        </p:txBody>
      </p:sp>
      <p:sp>
        <p:nvSpPr>
          <p:cNvPr id="16" name="t4-dot"/>
          <p:cNvSpPr/>
          <p:nvPr/>
        </p:nvSpPr>
        <p:spPr>
          <a:xfrm>
            <a:off x="6473952" y="1719072"/>
            <a:ext cx="310896" cy="310896"/>
          </a:xfrm>
          <a:prstGeom prst="ellipse">
            <a:avLst/>
          </a:prstGeom>
          <a:solidFill>
            <a:schemeClr val="tx1"/>
          </a:solidFill>
          <a:ln w="25400">
            <a:solidFill>
              <a:srgbClr val="FFFFFF"/>
            </a:solidFill>
            <a:prstDash val="solid"/>
          </a:ln>
        </p:spPr>
      </p:sp>
      <p:sp>
        <p:nvSpPr>
          <p:cNvPr id="17" name="t4-l"/>
          <p:cNvSpPr txBox="1"/>
          <p:nvPr/>
        </p:nvSpPr>
        <p:spPr>
          <a:xfrm>
            <a:off x="5989320" y="1188720"/>
            <a:ext cx="1280160" cy="411480"/>
          </a:xfrm>
          <a:prstGeom prst="rect">
            <a:avLst/>
          </a:prstGeom>
          <a:noFill/>
          <a:ln/>
        </p:spPr>
        <p:txBody>
          <a:bodyPr wrap="square" lIns="0" tIns="0" rIns="0" bIns="0" rtlCol="0" anchor="ctr"/>
          <a:lstStyle/>
          <a:p>
            <a:pPr algn="ctr" indent="0" marL="0">
              <a:buNone/>
            </a:pPr>
            <a:r>
              <a:rPr lang="en-US" sz="1500" b="1" dirty="0">
                <a:solidFill>
                  <a:schemeClr val="tx1"/>
                </a:solidFill>
              </a:rPr>
              <a:t>Sem 1–2</a:t>
            </a:r>
            <a:endParaRPr lang="en-US" sz="1500" dirty="0"/>
          </a:p>
        </p:txBody>
      </p:sp>
      <p:sp>
        <p:nvSpPr>
          <p:cNvPr id="18" name="t4-d"/>
          <p:cNvSpPr txBox="1"/>
          <p:nvPr/>
        </p:nvSpPr>
        <p:spPr>
          <a:xfrm>
            <a:off x="6016752" y="2240280"/>
            <a:ext cx="1225296" cy="1463040"/>
          </a:xfrm>
          <a:prstGeom prst="rect">
            <a:avLst/>
          </a:prstGeom>
          <a:noFill/>
          <a:ln/>
        </p:spPr>
        <p:txBody>
          <a:bodyPr wrap="square" lIns="0" tIns="0" rIns="0" bIns="0" rtlCol="0" anchor="t"/>
          <a:lstStyle/>
          <a:p>
            <a:pPr algn="ctr" indent="0" marL="0">
              <a:buNone/>
            </a:pPr>
            <a:r>
              <a:rPr lang="en-US" sz="1200" dirty="0">
                <a:solidFill>
                  <a:schemeClr val="tx2"/>
                </a:solidFill>
              </a:rPr>
              <a:t>Marcha blanca con revisión diaria de caja y stock</a:t>
            </a:r>
            <a:endParaRPr lang="en-US" sz="1200" dirty="0"/>
          </a:p>
        </p:txBody>
      </p:sp>
      <p:sp>
        <p:nvSpPr>
          <p:cNvPr id="19" name="t5-dot"/>
          <p:cNvSpPr/>
          <p:nvPr/>
        </p:nvSpPr>
        <p:spPr>
          <a:xfrm>
            <a:off x="7845552" y="1719072"/>
            <a:ext cx="310896" cy="310896"/>
          </a:xfrm>
          <a:prstGeom prst="ellipse">
            <a:avLst/>
          </a:prstGeom>
          <a:solidFill>
            <a:schemeClr val="tx1"/>
          </a:solidFill>
          <a:ln w="25400">
            <a:solidFill>
              <a:srgbClr val="FFFFFF"/>
            </a:solidFill>
            <a:prstDash val="solid"/>
          </a:ln>
        </p:spPr>
      </p:sp>
      <p:sp>
        <p:nvSpPr>
          <p:cNvPr id="20" name="t5-l"/>
          <p:cNvSpPr txBox="1"/>
          <p:nvPr/>
        </p:nvSpPr>
        <p:spPr>
          <a:xfrm>
            <a:off x="7360920" y="1188720"/>
            <a:ext cx="1280160" cy="411480"/>
          </a:xfrm>
          <a:prstGeom prst="rect">
            <a:avLst/>
          </a:prstGeom>
          <a:noFill/>
          <a:ln/>
        </p:spPr>
        <p:txBody>
          <a:bodyPr wrap="square" lIns="0" tIns="0" rIns="0" bIns="0" rtlCol="0" anchor="ctr"/>
          <a:lstStyle/>
          <a:p>
            <a:pPr algn="ctr" indent="0" marL="0">
              <a:buNone/>
            </a:pPr>
            <a:r>
              <a:rPr lang="en-US" sz="1500" b="1" dirty="0">
                <a:solidFill>
                  <a:schemeClr val="tx1"/>
                </a:solidFill>
              </a:rPr>
              <a:t>Mes 1</a:t>
            </a:r>
            <a:endParaRPr lang="en-US" sz="1500" dirty="0"/>
          </a:p>
        </p:txBody>
      </p:sp>
      <p:sp>
        <p:nvSpPr>
          <p:cNvPr id="21" name="t5-d"/>
          <p:cNvSpPr txBox="1"/>
          <p:nvPr/>
        </p:nvSpPr>
        <p:spPr>
          <a:xfrm>
            <a:off x="7388352" y="2240280"/>
            <a:ext cx="1225296" cy="1463040"/>
          </a:xfrm>
          <a:prstGeom prst="rect">
            <a:avLst/>
          </a:prstGeom>
          <a:noFill/>
          <a:ln/>
        </p:spPr>
        <p:txBody>
          <a:bodyPr wrap="square" lIns="0" tIns="0" rIns="0" bIns="0" rtlCol="0" anchor="t"/>
          <a:lstStyle/>
          <a:p>
            <a:pPr algn="ctr" indent="0" marL="0">
              <a:buNone/>
            </a:pPr>
            <a:r>
              <a:rPr lang="en-US" sz="1200" dirty="0">
                <a:solidFill>
                  <a:schemeClr val="tx2"/>
                </a:solidFill>
              </a:rPr>
              <a:t>Toma de control y revisión de márgenes</a:t>
            </a:r>
            <a:endParaRPr lang="en-US" sz="1200" dirty="0"/>
          </a:p>
        </p:txBody>
      </p:sp>
      <p:sp>
        <p:nvSpPr>
          <p:cNvPr id="22" name="Text 20"/>
          <p:cNvSpPr txBox="1"/>
          <p:nvPr/>
        </p:nvSpPr>
        <p:spPr>
          <a:xfrm>
            <a:off x="457200" y="3657600"/>
            <a:ext cx="8229600" cy="320040"/>
          </a:xfrm>
          <a:prstGeom prst="rect">
            <a:avLst/>
          </a:prstGeom>
          <a:noFill/>
          <a:ln/>
        </p:spPr>
        <p:txBody>
          <a:bodyPr wrap="square" lIns="0" tIns="0" rIns="0" bIns="0" rtlCol="0" anchor="ctr"/>
          <a:lstStyle/>
          <a:p>
            <a:pPr algn="ctr" indent="0" marL="0">
              <a:buNone/>
            </a:pPr>
            <a:r>
              <a:rPr lang="en-US" sz="1300" i="1" dirty="0">
                <a:solidFill>
                  <a:schemeClr val="accent1"/>
                </a:solidFill>
              </a:rPr>
              <a:t>Partida sugerida en un local primero, luego el segundo</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5577840" cy="1828800"/>
          </a:xfrm>
          <a:prstGeom prst="rect">
            <a:avLst/>
          </a:prstGeom>
          <a:noFill/>
          <a:ln/>
        </p:spPr>
        <p:txBody>
          <a:bodyPr wrap="square" lIns="0" tIns="0" rIns="0" bIns="0" rtlCol="0" anchor="b"/>
          <a:lstStyle/>
          <a:p>
            <a:pPr algn="l" indent="0" marL="0">
              <a:buNone/>
            </a:pPr>
            <a:r>
              <a:rPr lang="en-US" sz="3600" b="1" dirty="0">
                <a:solidFill>
                  <a:schemeClr val="bg1"/>
                </a:solidFill>
              </a:rPr>
              <a:t>Lo que necesitamos de Fenix</a:t>
            </a:r>
            <a:endParaRPr lang="en-US" sz="3600" dirty="0"/>
          </a:p>
        </p:txBody>
      </p:sp>
      <p:sp>
        <p:nvSpPr>
          <p:cNvPr id="3" name="Text 1"/>
          <p:cNvSpPr txBox="1"/>
          <p:nvPr/>
        </p:nvSpPr>
        <p:spPr>
          <a:xfrm>
            <a:off x="548640" y="3017520"/>
            <a:ext cx="5486400" cy="14173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bg1"/>
                </a:solidFill>
              </a:rPr>
              <a:t>Responsable interno y fecha de partida</a:t>
            </a:r>
            <a:endParaRPr lang="en-US" sz="1500" dirty="0"/>
          </a:p>
          <a:p>
            <a:pPr marL="177800" indent="-177800">
              <a:spcAft>
                <a:spcPts val="600"/>
              </a:spcAft>
              <a:buSzPct val="100000"/>
              <a:buChar char="•"/>
            </a:pPr>
            <a:r>
              <a:rPr lang="en-US" sz="1500" dirty="0">
                <a:solidFill>
                  <a:schemeClr val="bg1"/>
                </a:solidFill>
              </a:rPr>
              <a:t>Catálogo, clientes, proveedores y usuarios</a:t>
            </a:r>
            <a:endParaRPr lang="en-US" sz="1500" dirty="0"/>
          </a:p>
          <a:p>
            <a:pPr marL="177800" indent="-177800">
              <a:spcAft>
                <a:spcPts val="600"/>
              </a:spcAft>
              <a:buSzPct val="100000"/>
              <a:buChar char="•"/>
            </a:pPr>
            <a:r>
              <a:rPr lang="en-US" sz="1500" dirty="0">
                <a:solidFill>
                  <a:schemeClr val="bg1"/>
                </a:solidFill>
              </a:rPr>
              <a:t>Facturador electrónico actual y afiliación Webpay</a:t>
            </a:r>
            <a:endParaRPr lang="en-US" sz="1500" dirty="0"/>
          </a:p>
          <a:p>
            <a:pPr marL="177800" indent="-177800">
              <a:spcAft>
                <a:spcPts val="600"/>
              </a:spcAft>
              <a:buSzPct val="100000"/>
              <a:buChar char="•"/>
            </a:pPr>
            <a:r>
              <a:rPr lang="en-US" sz="1500" dirty="0">
                <a:solidFill>
                  <a:schemeClr val="bg1"/>
                </a:solidFill>
              </a:rPr>
              <a:t>Fecha para la toma de inventario inicial</a:t>
            </a:r>
            <a:endParaRPr lang="en-US" sz="1500" dirty="0"/>
          </a:p>
        </p:txBody>
      </p:sp>
      <p:sp>
        <p:nvSpPr>
          <p:cNvPr id="4" name="logo-bg2"/>
          <p:cNvSpPr/>
          <p:nvPr/>
        </p:nvSpPr>
        <p:spPr>
          <a:xfrm>
            <a:off x="6355080" y="1097280"/>
            <a:ext cx="2377440" cy="2377440"/>
          </a:xfrm>
          <a:prstGeom prst="ellipse">
            <a:avLst/>
          </a:prstGeom>
          <a:solidFill>
            <a:schemeClr val="bg1"/>
          </a:solidFill>
          <a:ln/>
        </p:spPr>
      </p:sp>
      <p:pic>
        <p:nvPicPr>
          <p:cNvPr id="5" name="logo2" descr="/tmp/claude-0/-home-claude/ef4383f0-4efb-547e-910d-feeec167ea62/scratchpad/logo-circle.png">    </p:cNvPr>
          <p:cNvPicPr>
            <a:picLocks noChangeAspect="1"/>
          </p:cNvPicPr>
          <p:nvPr/>
        </p:nvPicPr>
        <p:blipFill>
          <a:blip r:embed="rId1"/>
          <a:stretch>
            <a:fillRect/>
          </a:stretch>
        </p:blipFill>
        <p:spPr>
          <a:xfrm>
            <a:off x="6400800" y="1143000"/>
            <a:ext cx="2286000" cy="2286000"/>
          </a:xfrm>
          <a:prstGeom prst="rect">
            <a:avLst/>
          </a:prstGeom>
        </p:spPr>
      </p:pic>
      <p:sp>
        <p:nvSpPr>
          <p:cNvPr id="6" name="Text 3"/>
          <p:cNvSpPr txBox="1"/>
          <p:nvPr/>
        </p:nvSpPr>
        <p:spPr>
          <a:xfrm>
            <a:off x="548640" y="452628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El detalle completo va por correo en el documento PDF</a:t>
            </a:r>
            <a:endParaRPr lang="en-US" sz="1100" dirty="0"/>
          </a:p>
        </p:txBody>
      </p:sp>
      <p:sp>
        <p:nvSpPr>
          <p:cNvPr id="8" name="Text 0"/>
          <p:cNvSpPr/>
          <p:nvPr>
            <p:ph idx="101" type="body" hasCustomPrompt="1"/>
          </p:nvPr>
        </p:nvSpPr>
        <p:spPr>
          <a:xfrm>
            <a:off x="548640" y="2971800"/>
            <a:ext cx="5669280" cy="914400"/>
          </a:xfrm>
          <a:prstGeom prst="rect">
            <a:avLst/>
          </a:prstGeom>
          <a:noFill/>
          <a:ln/>
        </p:spPr>
        <p:txBody>
          <a:bodyPr wrap="square" lIns="0" tIns="0" rIns="0" bIns="0" rtlCol="0" anchor="t"/>
          <a:lstStyle/>
          <a:p>
            <a:pPr algn="l" indent="0" marL="0">
              <a:buNone/>
            </a:pPr>
            <a:endParaRPr lang="en-US" sz="1600" dirty="0"/>
          </a:p>
        </p:txBody>
      </p:sp>
    </p:spTree>
  </p:cSld>
  <p:clrMapOvr>
    <a:masterClrMapping/>
  </p:clrMapOvr>
</p:sld>
</file>

<file path=ppt/theme/theme1.xml><?xml version="1.0" encoding="utf-8"?>
<a:theme xmlns:a="http://schemas.openxmlformats.org/drawingml/2006/main" name="Fenix 2Call">
  <a:themeElements>
    <a:clrScheme name="Fenix 2Call">
      <a:dk1>
        <a:srgbClr val="1F2328"/>
      </a:dk1>
      <a:lt1>
        <a:srgbClr val="FFFFFF"/>
      </a:lt1>
      <a:dk2>
        <a:srgbClr val="5B6470"/>
      </a:dk2>
      <a:lt2>
        <a:srgbClr val="F4F5F7"/>
      </a:lt2>
      <a:accent1>
        <a:srgbClr val="C8341B"/>
      </a:accent1>
      <a:accent2>
        <a:srgbClr val="E8833A"/>
      </a:accent2>
      <a:accent3>
        <a:srgbClr val="2E7D5B"/>
      </a:accent3>
      <a:accent4>
        <a:srgbClr val="9A3412"/>
      </a:accent4>
      <a:accent5>
        <a:srgbClr val="FBEDE9"/>
      </a:accent5>
      <a:accent6>
        <a:srgbClr val="E3E6EA"/>
      </a:accent6>
      <a:hlink>
        <a:srgbClr val="C8341B"/>
      </a:hlink>
      <a:folHlink>
        <a:srgbClr val="9A3412"/>
      </a:folHlink>
    </a:clrScheme>
    <a:fontScheme name="Fenix 2Cal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2Call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Puesta en marcha B1 Fénix</dc:title>
  <dc:subject>PptxGenJS Presentation</dc:subject>
  <dc:creator>2Call</dc:creator>
  <cp:lastModifiedBy>2Call</cp:lastModifiedBy>
  <cp:revision>1</cp:revision>
  <dcterms:created xsi:type="dcterms:W3CDTF">2026-10-08T14:31:08Z</dcterms:created>
  <dcterms:modified xsi:type="dcterms:W3CDTF">2026-10-08T14:31:08Z</dcterms:modified>
</cp:coreProperties>
</file>